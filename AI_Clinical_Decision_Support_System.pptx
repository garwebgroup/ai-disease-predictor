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72" r:id="rId4"/>
    <p:sldId id="274" r:id="rId5"/>
    <p:sldId id="258" r:id="rId6"/>
    <p:sldId id="259" r:id="rId7"/>
    <p:sldId id="260" r:id="rId8"/>
    <p:sldId id="273" r:id="rId9"/>
    <p:sldId id="261" r:id="rId10"/>
    <p:sldId id="271" r:id="rId11"/>
    <p:sldId id="262" r:id="rId12"/>
    <p:sldId id="264" r:id="rId13"/>
    <p:sldId id="265" r:id="rId14"/>
    <p:sldId id="266" r:id="rId15"/>
    <p:sldId id="267" r:id="rId16"/>
    <p:sldId id="269" r:id="rId17"/>
    <p:sldId id="268" r:id="rId18"/>
    <p:sldId id="270"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0701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1A06-7834-458B-39DB-4EE8D93D9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F9A71-30FE-C368-FD2F-CBB751C94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D56299-103F-64D7-0B4A-956BCD89A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15907F-1E70-A9E4-EA11-294495E9D51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12456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A167-AB6E-114B-8716-84E2ABD45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E8C44-F914-70CF-32E5-DF3462D56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33B8C-0689-297A-022D-8391589321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6099B8-D7BA-78E6-3F16-7DEE0221ECE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805437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78F6-04CC-E31D-D3BE-4B2391D30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B0397-F725-AF78-74C6-A08B56B1F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AC211-8457-DA76-8503-9AF3560DAF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5E4381-6F59-8F20-6544-416F1B26012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3592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E16B-4731-E206-1834-818AAF24A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5773B-EEC5-1852-84C9-24A8DA3B5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9BFD8E-AF13-9087-FEB8-E14A14EF21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268B34-4F4F-FB96-754B-170B2827E08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46200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C"/>
        </a:solidFill>
        <a:effectLst/>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0F7A8C">
              <a:alpha val="30000"/>
            </a:srgbClr>
          </a:solidFill>
          <a:ln/>
        </p:spPr>
      </p:sp>
      <p:sp>
        <p:nvSpPr>
          <p:cNvPr id="3" name="Shape 1"/>
          <p:cNvSpPr/>
          <p:nvPr/>
        </p:nvSpPr>
        <p:spPr>
          <a:xfrm>
            <a:off x="-1463040" y="4389120"/>
            <a:ext cx="4206240" cy="4206240"/>
          </a:xfrm>
          <a:prstGeom prst="ellipse">
            <a:avLst/>
          </a:prstGeom>
          <a:solidFill>
            <a:srgbClr val="02C39A">
              <a:alpha val="18000"/>
            </a:srgbClr>
          </a:solidFill>
          <a:ln/>
        </p:spPr>
      </p:sp>
      <p:sp>
        <p:nvSpPr>
          <p:cNvPr id="4" name="Text 2"/>
          <p:cNvSpPr/>
          <p:nvPr/>
        </p:nvSpPr>
        <p:spPr>
          <a:xfrm>
            <a:off x="822960" y="822960"/>
            <a:ext cx="7315200" cy="365760"/>
          </a:xfrm>
          <a:prstGeom prst="rect">
            <a:avLst/>
          </a:prstGeom>
          <a:noFill/>
          <a:ln/>
        </p:spPr>
        <p:txBody>
          <a:bodyPr wrap="square" rtlCol="0" anchor="ctr"/>
          <a:lstStyle/>
          <a:p>
            <a:pPr marL="0" indent="0">
              <a:buNone/>
            </a:pPr>
            <a:r>
              <a:rPr lang="en-US" sz="1600" b="1" kern="0" spc="300" dirty="0">
                <a:solidFill>
                  <a:srgbClr val="02C39A"/>
                </a:solidFill>
                <a:latin typeface="Calibri" pitchFamily="34" charset="0"/>
                <a:ea typeface="Calibri" pitchFamily="34" charset="-122"/>
                <a:cs typeface="Calibri" pitchFamily="34" charset="-120"/>
              </a:rPr>
              <a:t>MSc AI GROUP 4 PROJECT REPORT</a:t>
            </a:r>
            <a:endParaRPr lang="en-US" sz="1600" dirty="0"/>
          </a:p>
        </p:txBody>
      </p:sp>
      <p:sp>
        <p:nvSpPr>
          <p:cNvPr id="5" name="Text 3"/>
          <p:cNvSpPr/>
          <p:nvPr/>
        </p:nvSpPr>
        <p:spPr>
          <a:xfrm>
            <a:off x="822960" y="1371600"/>
            <a:ext cx="9875520" cy="1737360"/>
          </a:xfrm>
          <a:prstGeom prst="rect">
            <a:avLst/>
          </a:prstGeom>
          <a:noFill/>
          <a:ln/>
        </p:spPr>
        <p:txBody>
          <a:bodyPr wrap="square" rtlCol="0" anchor="ctr"/>
          <a:lstStyle/>
          <a:p>
            <a:pPr marL="0" indent="0">
              <a:lnSpc>
                <a:spcPct val="108000"/>
              </a:lnSpc>
              <a:buNone/>
            </a:pPr>
            <a:r>
              <a:rPr lang="en-US" sz="3800" b="1" dirty="0">
                <a:solidFill>
                  <a:srgbClr val="FFFFFF"/>
                </a:solidFill>
                <a:latin typeface="Calibri" pitchFamily="34" charset="0"/>
                <a:ea typeface="Calibri" pitchFamily="34" charset="-122"/>
                <a:cs typeface="Calibri" pitchFamily="34" charset="-120"/>
              </a:rPr>
              <a:t>AI-Powered Clinical Disease</a:t>
            </a:r>
            <a:endParaRPr lang="en-US" sz="3800" dirty="0"/>
          </a:p>
          <a:p>
            <a:pPr marL="0" indent="0">
              <a:lnSpc>
                <a:spcPct val="108000"/>
              </a:lnSpc>
              <a:buNone/>
            </a:pPr>
            <a:r>
              <a:rPr lang="en-US" sz="3800" b="1" dirty="0">
                <a:solidFill>
                  <a:srgbClr val="FFFFFF"/>
                </a:solidFill>
                <a:latin typeface="Calibri" pitchFamily="34" charset="0"/>
                <a:ea typeface="Calibri" pitchFamily="34" charset="-122"/>
                <a:cs typeface="Calibri" pitchFamily="34" charset="-120"/>
              </a:rPr>
              <a:t>Prediction &amp; Decision Support System</a:t>
            </a:r>
            <a:endParaRPr lang="en-US" sz="3800" dirty="0"/>
          </a:p>
        </p:txBody>
      </p:sp>
      <p:sp>
        <p:nvSpPr>
          <p:cNvPr id="6" name="Text 4"/>
          <p:cNvSpPr/>
          <p:nvPr/>
        </p:nvSpPr>
        <p:spPr>
          <a:xfrm>
            <a:off x="822960" y="3063240"/>
            <a:ext cx="8339328" cy="731520"/>
          </a:xfrm>
          <a:prstGeom prst="rect">
            <a:avLst/>
          </a:prstGeom>
          <a:noFill/>
          <a:ln/>
        </p:spPr>
        <p:txBody>
          <a:bodyPr wrap="square" rtlCol="0" anchor="ctr"/>
          <a:lstStyle/>
          <a:p>
            <a:pPr marL="0" indent="0">
              <a:lnSpc>
                <a:spcPct val="115000"/>
              </a:lnSpc>
              <a:buNone/>
            </a:pPr>
            <a:r>
              <a:rPr lang="en-US" sz="1600" i="1" dirty="0">
                <a:solidFill>
                  <a:srgbClr val="D3E6E9"/>
                </a:solidFill>
                <a:latin typeface="Calibri" pitchFamily="34" charset="0"/>
                <a:ea typeface="Calibri" pitchFamily="34" charset="-122"/>
                <a:cs typeface="Calibri" pitchFamily="34" charset="-120"/>
              </a:rPr>
              <a:t>Fusing complete patient medical history with real-time physiological data to estimate and detect disease risk early, and support clinical decision-making.</a:t>
            </a:r>
            <a:endParaRPr lang="en-US" sz="1600" dirty="0"/>
          </a:p>
        </p:txBody>
      </p:sp>
      <p:sp>
        <p:nvSpPr>
          <p:cNvPr id="7" name="Shape 5"/>
          <p:cNvSpPr/>
          <p:nvPr/>
        </p:nvSpPr>
        <p:spPr>
          <a:xfrm>
            <a:off x="822960" y="3977640"/>
            <a:ext cx="1298448" cy="402336"/>
          </a:xfrm>
          <a:prstGeom prst="roundRect">
            <a:avLst>
              <a:gd name="adj" fmla="val 50000"/>
            </a:avLst>
          </a:prstGeom>
          <a:solidFill>
            <a:srgbClr val="0F7A8C">
              <a:alpha val="75000"/>
            </a:srgbClr>
          </a:solidFill>
          <a:ln w="12700">
            <a:solidFill>
              <a:srgbClr val="02C39A"/>
            </a:solidFill>
            <a:prstDash val="solid"/>
          </a:ln>
        </p:spPr>
      </p:sp>
      <p:sp>
        <p:nvSpPr>
          <p:cNvPr id="8" name="Text 6"/>
          <p:cNvSpPr/>
          <p:nvPr/>
        </p:nvSpPr>
        <p:spPr>
          <a:xfrm>
            <a:off x="822960" y="3977640"/>
            <a:ext cx="1298448"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Diabetes</a:t>
            </a:r>
            <a:endParaRPr lang="en-US" sz="1400" dirty="0"/>
          </a:p>
        </p:txBody>
      </p:sp>
      <p:sp>
        <p:nvSpPr>
          <p:cNvPr id="9" name="Shape 7"/>
          <p:cNvSpPr/>
          <p:nvPr/>
        </p:nvSpPr>
        <p:spPr>
          <a:xfrm>
            <a:off x="2286000" y="3977640"/>
            <a:ext cx="1664208" cy="402336"/>
          </a:xfrm>
          <a:prstGeom prst="roundRect">
            <a:avLst>
              <a:gd name="adj" fmla="val 50000"/>
            </a:avLst>
          </a:prstGeom>
          <a:solidFill>
            <a:srgbClr val="0F7A8C">
              <a:alpha val="75000"/>
            </a:srgbClr>
          </a:solidFill>
          <a:ln w="12700">
            <a:solidFill>
              <a:srgbClr val="02C39A"/>
            </a:solidFill>
            <a:prstDash val="solid"/>
          </a:ln>
        </p:spPr>
      </p:sp>
      <p:sp>
        <p:nvSpPr>
          <p:cNvPr id="10" name="Text 8"/>
          <p:cNvSpPr/>
          <p:nvPr/>
        </p:nvSpPr>
        <p:spPr>
          <a:xfrm>
            <a:off x="2286000" y="3977640"/>
            <a:ext cx="1664208"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Hypertension</a:t>
            </a:r>
            <a:endParaRPr lang="en-US" sz="1400" dirty="0"/>
          </a:p>
        </p:txBody>
      </p:sp>
      <p:sp>
        <p:nvSpPr>
          <p:cNvPr id="11" name="Shape 9"/>
          <p:cNvSpPr/>
          <p:nvPr/>
        </p:nvSpPr>
        <p:spPr>
          <a:xfrm>
            <a:off x="4114800" y="3995928"/>
            <a:ext cx="1755648" cy="402336"/>
          </a:xfrm>
          <a:prstGeom prst="roundRect">
            <a:avLst>
              <a:gd name="adj" fmla="val 50000"/>
            </a:avLst>
          </a:prstGeom>
          <a:solidFill>
            <a:srgbClr val="0F7A8C">
              <a:alpha val="75000"/>
            </a:srgbClr>
          </a:solidFill>
          <a:ln w="12700">
            <a:solidFill>
              <a:srgbClr val="02C39A"/>
            </a:solidFill>
            <a:prstDash val="solid"/>
          </a:ln>
        </p:spPr>
      </p:sp>
      <p:sp>
        <p:nvSpPr>
          <p:cNvPr id="12" name="Text 10"/>
          <p:cNvSpPr/>
          <p:nvPr/>
        </p:nvSpPr>
        <p:spPr>
          <a:xfrm>
            <a:off x="4114800" y="3977640"/>
            <a:ext cx="1755648"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Stroke</a:t>
            </a:r>
            <a:endParaRPr lang="en-US" sz="1400" dirty="0"/>
          </a:p>
        </p:txBody>
      </p:sp>
      <p:sp>
        <p:nvSpPr>
          <p:cNvPr id="13" name="Shape 11"/>
          <p:cNvSpPr/>
          <p:nvPr/>
        </p:nvSpPr>
        <p:spPr>
          <a:xfrm>
            <a:off x="6035040" y="3977640"/>
            <a:ext cx="1668348" cy="402336"/>
          </a:xfrm>
          <a:prstGeom prst="roundRect">
            <a:avLst>
              <a:gd name="adj" fmla="val 50000"/>
            </a:avLst>
          </a:prstGeom>
          <a:solidFill>
            <a:srgbClr val="0F7A8C">
              <a:alpha val="75000"/>
            </a:srgbClr>
          </a:solidFill>
          <a:ln w="12700">
            <a:solidFill>
              <a:srgbClr val="02C39A"/>
            </a:solidFill>
            <a:prstDash val="solid"/>
          </a:ln>
        </p:spPr>
      </p:sp>
      <p:sp>
        <p:nvSpPr>
          <p:cNvPr id="14" name="Text 12"/>
          <p:cNvSpPr/>
          <p:nvPr/>
        </p:nvSpPr>
        <p:spPr>
          <a:xfrm>
            <a:off x="6035039" y="3977640"/>
            <a:ext cx="1668349"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Heart Failure</a:t>
            </a:r>
            <a:endParaRPr lang="en-US" sz="1400" dirty="0"/>
          </a:p>
        </p:txBody>
      </p:sp>
      <p:sp>
        <p:nvSpPr>
          <p:cNvPr id="17" name="Shape 15"/>
          <p:cNvSpPr/>
          <p:nvPr/>
        </p:nvSpPr>
        <p:spPr>
          <a:xfrm>
            <a:off x="822960" y="5623560"/>
            <a:ext cx="5047488" cy="0"/>
          </a:xfrm>
          <a:prstGeom prst="line">
            <a:avLst/>
          </a:prstGeom>
          <a:noFill/>
          <a:ln w="12700">
            <a:solidFill>
              <a:srgbClr val="0F7A8C"/>
            </a:solidFill>
            <a:prstDash val="solid"/>
          </a:ln>
        </p:spPr>
      </p:sp>
      <p:sp>
        <p:nvSpPr>
          <p:cNvPr id="18" name="Text 16"/>
          <p:cNvSpPr/>
          <p:nvPr/>
        </p:nvSpPr>
        <p:spPr>
          <a:xfrm>
            <a:off x="822960" y="5742432"/>
            <a:ext cx="548640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Presented by: GROUP 4</a:t>
            </a:r>
            <a:endParaRPr lang="en-US" sz="1300" dirty="0"/>
          </a:p>
        </p:txBody>
      </p:sp>
      <p:sp>
        <p:nvSpPr>
          <p:cNvPr id="19" name="Text 17"/>
          <p:cNvSpPr/>
          <p:nvPr/>
        </p:nvSpPr>
        <p:spPr>
          <a:xfrm>
            <a:off x="822960" y="6053328"/>
            <a:ext cx="7315200" cy="292608"/>
          </a:xfrm>
          <a:prstGeom prst="rect">
            <a:avLst/>
          </a:prstGeom>
          <a:noFill/>
          <a:ln/>
        </p:spPr>
        <p:txBody>
          <a:bodyPr wrap="square" rtlCol="0" anchor="ctr"/>
          <a:lstStyle/>
          <a:p>
            <a:pPr marL="0" indent="0">
              <a:buNone/>
            </a:pPr>
            <a:r>
              <a:rPr lang="en-US" sz="1200" dirty="0">
                <a:solidFill>
                  <a:srgbClr val="D3E6E9"/>
                </a:solidFill>
                <a:latin typeface="Calibri" pitchFamily="34" charset="0"/>
                <a:ea typeface="Calibri" pitchFamily="34" charset="-122"/>
                <a:cs typeface="Calibri" pitchFamily="34" charset="-120"/>
              </a:rPr>
              <a:t>[Artificial Intelligence / MSc IT ]  •  [University of Cape Coast]  •  [23</a:t>
            </a:r>
            <a:r>
              <a:rPr lang="en-US" sz="1200" baseline="30000" dirty="0">
                <a:solidFill>
                  <a:srgbClr val="D3E6E9"/>
                </a:solidFill>
                <a:latin typeface="Calibri" pitchFamily="34" charset="0"/>
                <a:ea typeface="Calibri" pitchFamily="34" charset="-122"/>
                <a:cs typeface="Calibri" pitchFamily="34" charset="-120"/>
              </a:rPr>
              <a:t>rd</a:t>
            </a:r>
            <a:r>
              <a:rPr lang="en-US" sz="1200" dirty="0">
                <a:solidFill>
                  <a:srgbClr val="D3E6E9"/>
                </a:solidFill>
                <a:latin typeface="Calibri" pitchFamily="34" charset="0"/>
                <a:ea typeface="Calibri" pitchFamily="34" charset="-122"/>
                <a:cs typeface="Calibri" pitchFamily="34" charset="-120"/>
              </a:rPr>
              <a:t>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1400" b="1" kern="0" spc="200" dirty="0">
                <a:solidFill>
                  <a:srgbClr val="02C39A"/>
                </a:solidFill>
                <a:latin typeface="Calibri" pitchFamily="34" charset="0"/>
                <a:ea typeface="Calibri" pitchFamily="34" charset="-122"/>
                <a:cs typeface="Calibri" pitchFamily="34" charset="-120"/>
              </a:rPr>
              <a:t>INTRODUCTION</a:t>
            </a:r>
            <a:endParaRPr lang="en-US" sz="14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Why an AI Clinical Decision Support System?</a:t>
            </a:r>
            <a:endParaRPr lang="en-US" sz="2800" dirty="0"/>
          </a:p>
        </p:txBody>
      </p:sp>
      <p:sp>
        <p:nvSpPr>
          <p:cNvPr id="4" name="Text 2"/>
          <p:cNvSpPr/>
          <p:nvPr/>
        </p:nvSpPr>
        <p:spPr>
          <a:xfrm>
            <a:off x="457200" y="1325880"/>
            <a:ext cx="6675120" cy="1737360"/>
          </a:xfrm>
          <a:prstGeom prst="rect">
            <a:avLst/>
          </a:prstGeom>
          <a:noFill/>
          <a:ln/>
        </p:spPr>
        <p:txBody>
          <a:bodyPr wrap="square" rtlCol="0" anchor="ctr"/>
          <a:lstStyle/>
          <a:p>
            <a:pPr marL="0" indent="0">
              <a:lnSpc>
                <a:spcPct val="125000"/>
              </a:lnSpc>
              <a:buNone/>
            </a:pPr>
            <a:r>
              <a:rPr lang="en-US" sz="1400" dirty="0">
                <a:solidFill>
                  <a:srgbClr val="17313A"/>
                </a:solidFill>
                <a:latin typeface="Calibri" pitchFamily="34" charset="0"/>
                <a:ea typeface="Calibri" pitchFamily="34" charset="-122"/>
                <a:cs typeface="Calibri" pitchFamily="34" charset="-120"/>
              </a:rPr>
              <a:t>Chronic conditions such as diabetes, hypertension, heart failure, stroke and kidney failure remain leading causes of preventable death worldwide. Advances in machine learning now make it possible to combine a patient's medical history with live physiological readings to flag rising risk long before a crisis occurs.</a:t>
            </a:r>
            <a:endParaRPr lang="en-US" sz="1400" dirty="0"/>
          </a:p>
        </p:txBody>
      </p:sp>
      <p:sp>
        <p:nvSpPr>
          <p:cNvPr id="5" name="Text 3"/>
          <p:cNvSpPr/>
          <p:nvPr/>
        </p:nvSpPr>
        <p:spPr>
          <a:xfrm>
            <a:off x="457200" y="2834640"/>
            <a:ext cx="6675120" cy="960121"/>
          </a:xfrm>
          <a:prstGeom prst="rect">
            <a:avLst/>
          </a:prstGeom>
          <a:noFill/>
          <a:ln/>
        </p:spPr>
        <p:txBody>
          <a:bodyPr wrap="square" rtlCol="0" anchor="ctr"/>
          <a:lstStyle/>
          <a:p>
            <a:pPr marL="0" indent="0">
              <a:lnSpc>
                <a:spcPct val="125000"/>
              </a:lnSpc>
              <a:buNone/>
            </a:pPr>
            <a:r>
              <a:rPr lang="en-US" sz="1400" dirty="0">
                <a:solidFill>
                  <a:srgbClr val="17313A"/>
                </a:solidFill>
                <a:latin typeface="Calibri" pitchFamily="34" charset="0"/>
                <a:ea typeface="Calibri" pitchFamily="34" charset="-122"/>
                <a:cs typeface="Calibri" pitchFamily="34" charset="-120"/>
              </a:rPr>
              <a:t>This project designs, trains and deploys a multi-disease risk-prediction system that pairs five specialist XGBoost models with a simple, no-code web interface — turning scattered clinical signals into a single, actionable report for a clinician or trained health worker.</a:t>
            </a:r>
            <a:endParaRPr lang="en-US" sz="1400" dirty="0"/>
          </a:p>
        </p:txBody>
      </p:sp>
      <p:sp>
        <p:nvSpPr>
          <p:cNvPr id="6" name="Shape 4"/>
          <p:cNvSpPr/>
          <p:nvPr/>
        </p:nvSpPr>
        <p:spPr>
          <a:xfrm>
            <a:off x="7528560" y="1138012"/>
            <a:ext cx="4206240" cy="5474762"/>
          </a:xfrm>
          <a:prstGeom prst="roundRect">
            <a:avLst>
              <a:gd name="adj" fmla="val 2609"/>
            </a:avLst>
          </a:prstGeom>
          <a:solidFill>
            <a:srgbClr val="EAF6F7"/>
          </a:solidFill>
          <a:ln/>
        </p:spPr>
      </p:sp>
      <p:sp>
        <p:nvSpPr>
          <p:cNvPr id="7" name="Text 5"/>
          <p:cNvSpPr/>
          <p:nvPr/>
        </p:nvSpPr>
        <p:spPr>
          <a:xfrm>
            <a:off x="7818120" y="1325880"/>
            <a:ext cx="3657600" cy="292608"/>
          </a:xfrm>
          <a:prstGeom prst="rect">
            <a:avLst/>
          </a:prstGeom>
          <a:noFill/>
          <a:ln/>
        </p:spPr>
        <p:txBody>
          <a:bodyPr wrap="square" rtlCol="0" anchor="ctr"/>
          <a:lstStyle/>
          <a:p>
            <a:pPr marL="0" indent="0">
              <a:buNone/>
            </a:pPr>
            <a:r>
              <a:rPr lang="en-US" sz="1600" b="1" kern="0" spc="150" dirty="0">
                <a:solidFill>
                  <a:srgbClr val="0F7A8C"/>
                </a:solidFill>
                <a:latin typeface="Calibri" pitchFamily="34" charset="0"/>
                <a:ea typeface="Calibri" pitchFamily="34" charset="-122"/>
                <a:cs typeface="Calibri" pitchFamily="34" charset="-120"/>
              </a:rPr>
              <a:t>PROJECT AT A GLANCE</a:t>
            </a:r>
            <a:endParaRPr lang="en-US" sz="1600" dirty="0"/>
          </a:p>
        </p:txBody>
      </p:sp>
      <p:sp>
        <p:nvSpPr>
          <p:cNvPr id="8" name="Text 6"/>
          <p:cNvSpPr/>
          <p:nvPr/>
        </p:nvSpPr>
        <p:spPr>
          <a:xfrm>
            <a:off x="7818120" y="1965960"/>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DOMAIN</a:t>
            </a:r>
            <a:endParaRPr lang="en-US" sz="1100" dirty="0"/>
          </a:p>
        </p:txBody>
      </p:sp>
      <p:sp>
        <p:nvSpPr>
          <p:cNvPr id="9" name="Text 7"/>
          <p:cNvSpPr/>
          <p:nvPr/>
        </p:nvSpPr>
        <p:spPr>
          <a:xfrm>
            <a:off x="7818120" y="2185416"/>
            <a:ext cx="3566160" cy="31339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Clinical AI / Decision Support</a:t>
            </a:r>
            <a:endParaRPr lang="en-US" sz="1400" dirty="0"/>
          </a:p>
        </p:txBody>
      </p:sp>
      <p:sp>
        <p:nvSpPr>
          <p:cNvPr id="10" name="Text 8"/>
          <p:cNvSpPr/>
          <p:nvPr/>
        </p:nvSpPr>
        <p:spPr>
          <a:xfrm>
            <a:off x="7818120" y="2679192"/>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DISEASES MODELLED</a:t>
            </a:r>
            <a:endParaRPr lang="en-US" sz="1100" dirty="0"/>
          </a:p>
        </p:txBody>
      </p:sp>
      <p:sp>
        <p:nvSpPr>
          <p:cNvPr id="11" name="Text 9"/>
          <p:cNvSpPr/>
          <p:nvPr/>
        </p:nvSpPr>
        <p:spPr>
          <a:xfrm>
            <a:off x="7818120" y="2898648"/>
            <a:ext cx="3566160" cy="444731"/>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Diabetes, Hypertension, Heart Failure, Stroke</a:t>
            </a:r>
            <a:endParaRPr lang="en-US" sz="1400" dirty="0"/>
          </a:p>
        </p:txBody>
      </p:sp>
      <p:sp>
        <p:nvSpPr>
          <p:cNvPr id="12" name="Text 10"/>
          <p:cNvSpPr/>
          <p:nvPr/>
        </p:nvSpPr>
        <p:spPr>
          <a:xfrm>
            <a:off x="7818120" y="3467239"/>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CORE ALGORITHM</a:t>
            </a:r>
            <a:endParaRPr lang="en-US" sz="1100" dirty="0"/>
          </a:p>
        </p:txBody>
      </p:sp>
      <p:sp>
        <p:nvSpPr>
          <p:cNvPr id="13" name="Text 11"/>
          <p:cNvSpPr/>
          <p:nvPr/>
        </p:nvSpPr>
        <p:spPr>
          <a:xfrm>
            <a:off x="7818120" y="3611880"/>
            <a:ext cx="3566160" cy="45720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XGBoost (gradient-boosted trees)</a:t>
            </a:r>
            <a:endParaRPr lang="en-US" sz="1400" dirty="0"/>
          </a:p>
        </p:txBody>
      </p:sp>
      <p:sp>
        <p:nvSpPr>
          <p:cNvPr id="14" name="Text 12"/>
          <p:cNvSpPr/>
          <p:nvPr/>
        </p:nvSpPr>
        <p:spPr>
          <a:xfrm>
            <a:off x="7818120" y="4192940"/>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DATA SOURCE</a:t>
            </a:r>
            <a:endParaRPr lang="en-US" sz="1100" dirty="0"/>
          </a:p>
        </p:txBody>
      </p:sp>
      <p:sp>
        <p:nvSpPr>
          <p:cNvPr id="15" name="Text 13"/>
          <p:cNvSpPr/>
          <p:nvPr/>
        </p:nvSpPr>
        <p:spPr>
          <a:xfrm>
            <a:off x="7818120" y="4414890"/>
            <a:ext cx="3566160" cy="250212"/>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CDC BRFSS 2015, 250,000+ records</a:t>
            </a:r>
            <a:endParaRPr lang="en-US" sz="1400" dirty="0"/>
          </a:p>
        </p:txBody>
      </p:sp>
      <p:sp>
        <p:nvSpPr>
          <p:cNvPr id="16" name="Text 14"/>
          <p:cNvSpPr/>
          <p:nvPr/>
        </p:nvSpPr>
        <p:spPr>
          <a:xfrm>
            <a:off x="7818120" y="4937760"/>
            <a:ext cx="3566160" cy="237744"/>
          </a:xfrm>
          <a:prstGeom prst="rect">
            <a:avLst/>
          </a:prstGeom>
          <a:noFill/>
          <a:ln/>
        </p:spPr>
        <p:txBody>
          <a:bodyPr wrap="square" rtlCol="0" anchor="ctr"/>
          <a:lstStyle/>
          <a:p>
            <a:pPr marL="0" indent="0">
              <a:buNone/>
            </a:pPr>
            <a:r>
              <a:rPr lang="en-US" sz="1200" b="1" kern="0" spc="50" dirty="0">
                <a:solidFill>
                  <a:srgbClr val="51707A"/>
                </a:solidFill>
                <a:latin typeface="Calibri" pitchFamily="34" charset="0"/>
                <a:ea typeface="Calibri" pitchFamily="34" charset="-122"/>
                <a:cs typeface="Calibri" pitchFamily="34" charset="-120"/>
              </a:rPr>
              <a:t>INTERFACE</a:t>
            </a:r>
            <a:endParaRPr lang="en-US" sz="1200" dirty="0"/>
          </a:p>
        </p:txBody>
      </p:sp>
      <p:sp>
        <p:nvSpPr>
          <p:cNvPr id="17" name="Text 15"/>
          <p:cNvSpPr/>
          <p:nvPr/>
        </p:nvSpPr>
        <p:spPr>
          <a:xfrm>
            <a:off x="7818120" y="5038344"/>
            <a:ext cx="3566160" cy="45720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Gradio web application</a:t>
            </a:r>
            <a:endParaRPr lang="en-US" sz="1400" dirty="0"/>
          </a:p>
        </p:txBody>
      </p:sp>
      <p:sp>
        <p:nvSpPr>
          <p:cNvPr id="18" name="Text 16"/>
          <p:cNvSpPr/>
          <p:nvPr/>
        </p:nvSpPr>
        <p:spPr>
          <a:xfrm>
            <a:off x="7818120" y="5598624"/>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OUTPUT</a:t>
            </a:r>
            <a:endParaRPr lang="en-US" sz="1100" dirty="0"/>
          </a:p>
        </p:txBody>
      </p:sp>
      <p:sp>
        <p:nvSpPr>
          <p:cNvPr id="19" name="Text 17"/>
          <p:cNvSpPr/>
          <p:nvPr/>
        </p:nvSpPr>
        <p:spPr>
          <a:xfrm>
            <a:off x="7818120" y="5818080"/>
            <a:ext cx="3566160" cy="316715"/>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Risk %, vital-sign alerts, recommendations</a:t>
            </a:r>
            <a:endParaRPr lang="en-US" sz="1400" dirty="0"/>
          </a:p>
        </p:txBody>
      </p:sp>
      <p:sp>
        <p:nvSpPr>
          <p:cNvPr id="20" name="Text 18"/>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Introduction</a:t>
            </a:r>
            <a:endParaRPr lang="en-US" sz="1000" dirty="0"/>
          </a:p>
        </p:txBody>
      </p:sp>
      <p:sp>
        <p:nvSpPr>
          <p:cNvPr id="21" name="Text 19"/>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BB0ECF-A209-BA7D-3A63-77A7BA3E390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6E9575-7158-5FAF-1019-6D2438B2EE84}"/>
              </a:ext>
            </a:extLst>
          </p:cNvPr>
          <p:cNvSpPr/>
          <p:nvPr/>
        </p:nvSpPr>
        <p:spPr>
          <a:xfrm>
            <a:off x="457200" y="320040"/>
            <a:ext cx="9144000" cy="292608"/>
          </a:xfrm>
          <a:prstGeom prst="rect">
            <a:avLst/>
          </a:prstGeom>
          <a:noFill/>
          <a:ln/>
        </p:spPr>
        <p:txBody>
          <a:bodyPr wrap="square" rtlCol="0" anchor="ctr"/>
          <a:lstStyle/>
          <a:p>
            <a:pPr marL="0" indent="0" algn="ctr">
              <a:buNone/>
            </a:pPr>
            <a:r>
              <a:rPr lang="en-US" sz="1400" b="1" kern="0" spc="200" dirty="0">
                <a:solidFill>
                  <a:srgbClr val="02C39A"/>
                </a:solidFill>
                <a:latin typeface="Calibri" pitchFamily="34" charset="0"/>
                <a:ea typeface="Calibri" pitchFamily="34" charset="-122"/>
                <a:cs typeface="Calibri" pitchFamily="34" charset="-120"/>
              </a:rPr>
              <a:t>INTRODUCTION</a:t>
            </a:r>
            <a:endParaRPr lang="en-US" sz="1400" dirty="0"/>
          </a:p>
        </p:txBody>
      </p:sp>
      <p:sp>
        <p:nvSpPr>
          <p:cNvPr id="3" name="Text 1">
            <a:extLst>
              <a:ext uri="{FF2B5EF4-FFF2-40B4-BE49-F238E27FC236}">
                <a16:creationId xmlns:a16="http://schemas.microsoft.com/office/drawing/2014/main" id="{DAF23F7E-3C19-3BC6-0CBB-B562E0072C7A}"/>
              </a:ext>
            </a:extLst>
          </p:cNvPr>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Why these diseases?</a:t>
            </a:r>
            <a:endParaRPr lang="en-US" sz="2800" dirty="0"/>
          </a:p>
        </p:txBody>
      </p:sp>
      <p:sp>
        <p:nvSpPr>
          <p:cNvPr id="4" name="Text 2">
            <a:extLst>
              <a:ext uri="{FF2B5EF4-FFF2-40B4-BE49-F238E27FC236}">
                <a16:creationId xmlns:a16="http://schemas.microsoft.com/office/drawing/2014/main" id="{68E25B4C-5334-4720-6AF7-5B466F93545A}"/>
              </a:ext>
            </a:extLst>
          </p:cNvPr>
          <p:cNvSpPr/>
          <p:nvPr/>
        </p:nvSpPr>
        <p:spPr>
          <a:xfrm>
            <a:off x="457200" y="1133856"/>
            <a:ext cx="6675120" cy="4464768"/>
          </a:xfrm>
          <a:prstGeom prst="rect">
            <a:avLst/>
          </a:prstGeom>
          <a:noFill/>
          <a:ln/>
        </p:spPr>
        <p:txBody>
          <a:bodyPr wrap="square" rtlCol="0" anchor="ctr"/>
          <a:lstStyle/>
          <a:p>
            <a:pPr marL="285750" indent="-285750">
              <a:buFont typeface="Arial" panose="020B0604020202020204" pitchFamily="34" charset="0"/>
              <a:buChar char="•"/>
            </a:pPr>
            <a:r>
              <a:rPr lang="en-US" sz="1400" b="1" dirty="0"/>
              <a:t>High prevalence and public-health burden.</a:t>
            </a:r>
            <a:r>
              <a:rPr lang="en-US" sz="1400" dirty="0"/>
              <a:t> Diabetes affects over 800 million adults globally, and hypertension affects about 1.4 billion people, making both strong targets for an app that can reach many users.</a:t>
            </a:r>
          </a:p>
          <a:p>
            <a:endParaRPr lang="en-US" sz="1400" dirty="0"/>
          </a:p>
          <a:p>
            <a:pPr marL="285750" indent="-285750">
              <a:buFont typeface="Arial" panose="020B0604020202020204" pitchFamily="34" charset="0"/>
              <a:buChar char="•"/>
            </a:pPr>
            <a:r>
              <a:rPr lang="en-US" sz="1400" b="1" dirty="0"/>
              <a:t>Serious downstream complications.</a:t>
            </a:r>
            <a:r>
              <a:rPr lang="en-US" sz="1400" dirty="0"/>
              <a:t> Diabetes and hypertension are major risk factors for cardiovascular and cerebrovascular events, including stroke and heart failure, so predicting them can help prevent more severe outcomes.</a:t>
            </a:r>
          </a:p>
          <a:p>
            <a:endParaRPr lang="en-US" sz="1400" dirty="0"/>
          </a:p>
          <a:p>
            <a:pPr marL="285750" indent="-285750">
              <a:buFont typeface="Arial" panose="020B0604020202020204" pitchFamily="34" charset="0"/>
              <a:buChar char="•"/>
            </a:pPr>
            <a:r>
              <a:rPr lang="en-US" sz="1400" b="1" dirty="0"/>
              <a:t>Clear clinical relevance.</a:t>
            </a:r>
            <a:r>
              <a:rPr lang="en-US" sz="1400" dirty="0"/>
              <a:t> Stroke has a major global burden, with tens of millions of people living with its consequences, and it is a time-sensitive condition where earlier risk identification can improve prevention and triage.</a:t>
            </a:r>
          </a:p>
          <a:p>
            <a:endParaRPr lang="en-US" sz="1400" dirty="0"/>
          </a:p>
          <a:p>
            <a:pPr marL="285750" indent="-285750">
              <a:buFont typeface="Arial" panose="020B0604020202020204" pitchFamily="34" charset="0"/>
              <a:buChar char="•"/>
            </a:pPr>
            <a:r>
              <a:rPr lang="en-US" sz="1400" b="1" dirty="0"/>
              <a:t>Shared risk factors.</a:t>
            </a:r>
            <a:r>
              <a:rPr lang="en-US" sz="1400" dirty="0"/>
              <a:t> These conditions often share predictors such as age, blood pressure, obesity, physical inactivity, glucose dysregulation, and smoking, which makes them suitable for one unified AI model or a multi-task model.</a:t>
            </a:r>
          </a:p>
          <a:p>
            <a:endParaRPr lang="en-US" sz="1400" dirty="0"/>
          </a:p>
          <a:p>
            <a:pPr marL="285750" indent="-285750">
              <a:buFont typeface="Arial" panose="020B0604020202020204" pitchFamily="34" charset="0"/>
              <a:buChar char="•"/>
            </a:pPr>
            <a:r>
              <a:rPr lang="en-US" sz="1400" b="1" dirty="0"/>
              <a:t>Practical data availability.</a:t>
            </a:r>
            <a:r>
              <a:rPr lang="en-US" sz="1400" dirty="0"/>
              <a:t> These diseases are commonly captured in EHRs, screening programs, and public health datasets, so they are easier to model than rare diseases and more likely to produce usable predictions in practice.</a:t>
            </a:r>
          </a:p>
        </p:txBody>
      </p:sp>
      <p:sp>
        <p:nvSpPr>
          <p:cNvPr id="6" name="Shape 4">
            <a:extLst>
              <a:ext uri="{FF2B5EF4-FFF2-40B4-BE49-F238E27FC236}">
                <a16:creationId xmlns:a16="http://schemas.microsoft.com/office/drawing/2014/main" id="{3B34B847-9797-F1A4-A450-F7F8A9CFBF4B}"/>
              </a:ext>
            </a:extLst>
          </p:cNvPr>
          <p:cNvSpPr/>
          <p:nvPr/>
        </p:nvSpPr>
        <p:spPr>
          <a:xfrm>
            <a:off x="7528560" y="1138012"/>
            <a:ext cx="4206240" cy="5474762"/>
          </a:xfrm>
          <a:prstGeom prst="roundRect">
            <a:avLst>
              <a:gd name="adj" fmla="val 2609"/>
            </a:avLst>
          </a:prstGeom>
          <a:solidFill>
            <a:srgbClr val="EAF6F7"/>
          </a:solidFill>
          <a:ln/>
        </p:spPr>
      </p:sp>
      <p:sp>
        <p:nvSpPr>
          <p:cNvPr id="7" name="Text 5">
            <a:extLst>
              <a:ext uri="{FF2B5EF4-FFF2-40B4-BE49-F238E27FC236}">
                <a16:creationId xmlns:a16="http://schemas.microsoft.com/office/drawing/2014/main" id="{4D413F6B-22E2-93DF-DFB5-D3CFBDD8CD33}"/>
              </a:ext>
            </a:extLst>
          </p:cNvPr>
          <p:cNvSpPr/>
          <p:nvPr/>
        </p:nvSpPr>
        <p:spPr>
          <a:xfrm>
            <a:off x="7818120" y="1325880"/>
            <a:ext cx="3657600" cy="292608"/>
          </a:xfrm>
          <a:prstGeom prst="rect">
            <a:avLst/>
          </a:prstGeom>
          <a:noFill/>
          <a:ln/>
        </p:spPr>
        <p:txBody>
          <a:bodyPr wrap="square" rtlCol="0" anchor="ctr"/>
          <a:lstStyle/>
          <a:p>
            <a:pPr marL="0" indent="0">
              <a:buNone/>
            </a:pPr>
            <a:r>
              <a:rPr lang="en-US" sz="1600" b="1" kern="0" spc="150" dirty="0">
                <a:solidFill>
                  <a:srgbClr val="0F7A8C"/>
                </a:solidFill>
                <a:latin typeface="Calibri" pitchFamily="34" charset="0"/>
                <a:ea typeface="Calibri" pitchFamily="34" charset="-122"/>
                <a:cs typeface="Calibri" pitchFamily="34" charset="-120"/>
              </a:rPr>
              <a:t>PROJECT AT A GLANCE</a:t>
            </a:r>
            <a:endParaRPr lang="en-US" sz="1600" dirty="0"/>
          </a:p>
        </p:txBody>
      </p:sp>
      <p:sp>
        <p:nvSpPr>
          <p:cNvPr id="8" name="Text 6">
            <a:extLst>
              <a:ext uri="{FF2B5EF4-FFF2-40B4-BE49-F238E27FC236}">
                <a16:creationId xmlns:a16="http://schemas.microsoft.com/office/drawing/2014/main" id="{7100567A-21BD-8C21-1834-67BA2C0DBD5B}"/>
              </a:ext>
            </a:extLst>
          </p:cNvPr>
          <p:cNvSpPr/>
          <p:nvPr/>
        </p:nvSpPr>
        <p:spPr>
          <a:xfrm>
            <a:off x="7818120" y="1965960"/>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DOMAIN</a:t>
            </a:r>
            <a:endParaRPr lang="en-US" sz="1100" dirty="0"/>
          </a:p>
        </p:txBody>
      </p:sp>
      <p:sp>
        <p:nvSpPr>
          <p:cNvPr id="9" name="Text 7">
            <a:extLst>
              <a:ext uri="{FF2B5EF4-FFF2-40B4-BE49-F238E27FC236}">
                <a16:creationId xmlns:a16="http://schemas.microsoft.com/office/drawing/2014/main" id="{A8865802-B3D9-367B-21DC-EAE198CA0937}"/>
              </a:ext>
            </a:extLst>
          </p:cNvPr>
          <p:cNvSpPr/>
          <p:nvPr/>
        </p:nvSpPr>
        <p:spPr>
          <a:xfrm>
            <a:off x="7818120" y="2185416"/>
            <a:ext cx="3566160" cy="31339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Clinical AI / Decision Support</a:t>
            </a:r>
            <a:endParaRPr lang="en-US" sz="1400" dirty="0"/>
          </a:p>
        </p:txBody>
      </p:sp>
      <p:sp>
        <p:nvSpPr>
          <p:cNvPr id="10" name="Text 8">
            <a:extLst>
              <a:ext uri="{FF2B5EF4-FFF2-40B4-BE49-F238E27FC236}">
                <a16:creationId xmlns:a16="http://schemas.microsoft.com/office/drawing/2014/main" id="{F7B4DE1F-B6B9-4732-34F3-89FF4ED72EAF}"/>
              </a:ext>
            </a:extLst>
          </p:cNvPr>
          <p:cNvSpPr/>
          <p:nvPr/>
        </p:nvSpPr>
        <p:spPr>
          <a:xfrm>
            <a:off x="7818120" y="2679192"/>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DISEASES MODELLED</a:t>
            </a:r>
            <a:endParaRPr lang="en-US" sz="1100" dirty="0"/>
          </a:p>
        </p:txBody>
      </p:sp>
      <p:sp>
        <p:nvSpPr>
          <p:cNvPr id="11" name="Text 9">
            <a:extLst>
              <a:ext uri="{FF2B5EF4-FFF2-40B4-BE49-F238E27FC236}">
                <a16:creationId xmlns:a16="http://schemas.microsoft.com/office/drawing/2014/main" id="{CD51C5D7-7C40-57B9-F242-A1F0D4E38FC2}"/>
              </a:ext>
            </a:extLst>
          </p:cNvPr>
          <p:cNvSpPr/>
          <p:nvPr/>
        </p:nvSpPr>
        <p:spPr>
          <a:xfrm>
            <a:off x="7818120" y="2898648"/>
            <a:ext cx="3566160" cy="444731"/>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Diabetes, Hypertension, Heart Failure, Stroke</a:t>
            </a:r>
            <a:endParaRPr lang="en-US" sz="1400" dirty="0"/>
          </a:p>
        </p:txBody>
      </p:sp>
      <p:sp>
        <p:nvSpPr>
          <p:cNvPr id="12" name="Text 10">
            <a:extLst>
              <a:ext uri="{FF2B5EF4-FFF2-40B4-BE49-F238E27FC236}">
                <a16:creationId xmlns:a16="http://schemas.microsoft.com/office/drawing/2014/main" id="{8035DF54-BE55-C606-7474-72FF9337BF33}"/>
              </a:ext>
            </a:extLst>
          </p:cNvPr>
          <p:cNvSpPr/>
          <p:nvPr/>
        </p:nvSpPr>
        <p:spPr>
          <a:xfrm>
            <a:off x="7818120" y="3467239"/>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CORE ALGORITHM</a:t>
            </a:r>
            <a:endParaRPr lang="en-US" sz="1100" dirty="0"/>
          </a:p>
        </p:txBody>
      </p:sp>
      <p:sp>
        <p:nvSpPr>
          <p:cNvPr id="13" name="Text 11">
            <a:extLst>
              <a:ext uri="{FF2B5EF4-FFF2-40B4-BE49-F238E27FC236}">
                <a16:creationId xmlns:a16="http://schemas.microsoft.com/office/drawing/2014/main" id="{F71149E0-CB0D-61AC-CDED-6F2B55C910E4}"/>
              </a:ext>
            </a:extLst>
          </p:cNvPr>
          <p:cNvSpPr/>
          <p:nvPr/>
        </p:nvSpPr>
        <p:spPr>
          <a:xfrm>
            <a:off x="7818120" y="3611880"/>
            <a:ext cx="3566160" cy="45720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XGBoost (gradient-boosted trees)</a:t>
            </a:r>
            <a:endParaRPr lang="en-US" sz="1400" dirty="0"/>
          </a:p>
        </p:txBody>
      </p:sp>
      <p:sp>
        <p:nvSpPr>
          <p:cNvPr id="14" name="Text 12">
            <a:extLst>
              <a:ext uri="{FF2B5EF4-FFF2-40B4-BE49-F238E27FC236}">
                <a16:creationId xmlns:a16="http://schemas.microsoft.com/office/drawing/2014/main" id="{8263CDD1-4426-32DA-4139-6E1C8BB0F583}"/>
              </a:ext>
            </a:extLst>
          </p:cNvPr>
          <p:cNvSpPr/>
          <p:nvPr/>
        </p:nvSpPr>
        <p:spPr>
          <a:xfrm>
            <a:off x="7818120" y="4192940"/>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DATA SOURCE</a:t>
            </a:r>
            <a:endParaRPr lang="en-US" sz="1100" dirty="0"/>
          </a:p>
        </p:txBody>
      </p:sp>
      <p:sp>
        <p:nvSpPr>
          <p:cNvPr id="15" name="Text 13">
            <a:extLst>
              <a:ext uri="{FF2B5EF4-FFF2-40B4-BE49-F238E27FC236}">
                <a16:creationId xmlns:a16="http://schemas.microsoft.com/office/drawing/2014/main" id="{D98F3E98-C38C-6D5F-1533-153F1BE6B87E}"/>
              </a:ext>
            </a:extLst>
          </p:cNvPr>
          <p:cNvSpPr/>
          <p:nvPr/>
        </p:nvSpPr>
        <p:spPr>
          <a:xfrm>
            <a:off x="7818120" y="4414890"/>
            <a:ext cx="3566160" cy="250212"/>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CDC BRFSS 2015, 250,000+ records</a:t>
            </a:r>
            <a:endParaRPr lang="en-US" sz="1400" dirty="0"/>
          </a:p>
        </p:txBody>
      </p:sp>
      <p:sp>
        <p:nvSpPr>
          <p:cNvPr id="16" name="Text 14">
            <a:extLst>
              <a:ext uri="{FF2B5EF4-FFF2-40B4-BE49-F238E27FC236}">
                <a16:creationId xmlns:a16="http://schemas.microsoft.com/office/drawing/2014/main" id="{289FD214-7DFD-97D6-B2A8-AFB86C7E1C2C}"/>
              </a:ext>
            </a:extLst>
          </p:cNvPr>
          <p:cNvSpPr/>
          <p:nvPr/>
        </p:nvSpPr>
        <p:spPr>
          <a:xfrm>
            <a:off x="7818120" y="4937760"/>
            <a:ext cx="3566160" cy="237744"/>
          </a:xfrm>
          <a:prstGeom prst="rect">
            <a:avLst/>
          </a:prstGeom>
          <a:noFill/>
          <a:ln/>
        </p:spPr>
        <p:txBody>
          <a:bodyPr wrap="square" rtlCol="0" anchor="ctr"/>
          <a:lstStyle/>
          <a:p>
            <a:pPr marL="0" indent="0">
              <a:buNone/>
            </a:pPr>
            <a:r>
              <a:rPr lang="en-US" sz="1200" b="1" kern="0" spc="50" dirty="0">
                <a:solidFill>
                  <a:srgbClr val="51707A"/>
                </a:solidFill>
                <a:latin typeface="Calibri" pitchFamily="34" charset="0"/>
                <a:ea typeface="Calibri" pitchFamily="34" charset="-122"/>
                <a:cs typeface="Calibri" pitchFamily="34" charset="-120"/>
              </a:rPr>
              <a:t>INTERFACE</a:t>
            </a:r>
            <a:endParaRPr lang="en-US" sz="1200" dirty="0"/>
          </a:p>
        </p:txBody>
      </p:sp>
      <p:sp>
        <p:nvSpPr>
          <p:cNvPr id="17" name="Text 15">
            <a:extLst>
              <a:ext uri="{FF2B5EF4-FFF2-40B4-BE49-F238E27FC236}">
                <a16:creationId xmlns:a16="http://schemas.microsoft.com/office/drawing/2014/main" id="{587DEDA2-BDB3-A6F2-3E65-86177F22B5B5}"/>
              </a:ext>
            </a:extLst>
          </p:cNvPr>
          <p:cNvSpPr/>
          <p:nvPr/>
        </p:nvSpPr>
        <p:spPr>
          <a:xfrm>
            <a:off x="7818120" y="5038344"/>
            <a:ext cx="3566160" cy="45720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Gradio web application</a:t>
            </a:r>
            <a:endParaRPr lang="en-US" sz="1400" dirty="0"/>
          </a:p>
        </p:txBody>
      </p:sp>
      <p:sp>
        <p:nvSpPr>
          <p:cNvPr id="18" name="Text 16">
            <a:extLst>
              <a:ext uri="{FF2B5EF4-FFF2-40B4-BE49-F238E27FC236}">
                <a16:creationId xmlns:a16="http://schemas.microsoft.com/office/drawing/2014/main" id="{DF57992C-767A-1967-3B34-0320D68DD5A3}"/>
              </a:ext>
            </a:extLst>
          </p:cNvPr>
          <p:cNvSpPr/>
          <p:nvPr/>
        </p:nvSpPr>
        <p:spPr>
          <a:xfrm>
            <a:off x="7818120" y="5598624"/>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OUTPUT</a:t>
            </a:r>
            <a:endParaRPr lang="en-US" sz="1100" dirty="0"/>
          </a:p>
        </p:txBody>
      </p:sp>
      <p:sp>
        <p:nvSpPr>
          <p:cNvPr id="19" name="Text 17">
            <a:extLst>
              <a:ext uri="{FF2B5EF4-FFF2-40B4-BE49-F238E27FC236}">
                <a16:creationId xmlns:a16="http://schemas.microsoft.com/office/drawing/2014/main" id="{C8920C12-51D1-2F2D-091E-349BD64D3C15}"/>
              </a:ext>
            </a:extLst>
          </p:cNvPr>
          <p:cNvSpPr/>
          <p:nvPr/>
        </p:nvSpPr>
        <p:spPr>
          <a:xfrm>
            <a:off x="7818120" y="5818080"/>
            <a:ext cx="3566160" cy="316715"/>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Risk %, vital-sign alerts, recommendations</a:t>
            </a:r>
            <a:endParaRPr lang="en-US" sz="1400" dirty="0"/>
          </a:p>
        </p:txBody>
      </p:sp>
      <p:sp>
        <p:nvSpPr>
          <p:cNvPr id="20" name="Text 18">
            <a:extLst>
              <a:ext uri="{FF2B5EF4-FFF2-40B4-BE49-F238E27FC236}">
                <a16:creationId xmlns:a16="http://schemas.microsoft.com/office/drawing/2014/main" id="{C0732C1A-13AA-48DD-B724-BDC532AEA7B1}"/>
              </a:ext>
            </a:extLst>
          </p:cNvPr>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Introduction</a:t>
            </a:r>
            <a:endParaRPr lang="en-US" sz="1000" dirty="0"/>
          </a:p>
        </p:txBody>
      </p:sp>
      <p:sp>
        <p:nvSpPr>
          <p:cNvPr id="21" name="Text 19">
            <a:extLst>
              <a:ext uri="{FF2B5EF4-FFF2-40B4-BE49-F238E27FC236}">
                <a16:creationId xmlns:a16="http://schemas.microsoft.com/office/drawing/2014/main" id="{4A05A130-8801-242B-E6D7-56399034214A}"/>
              </a:ext>
            </a:extLst>
          </p:cNvPr>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2</a:t>
            </a:r>
            <a:endParaRPr lang="en-US" sz="1000" dirty="0"/>
          </a:p>
        </p:txBody>
      </p:sp>
    </p:spTree>
    <p:extLst>
      <p:ext uri="{BB962C8B-B14F-4D97-AF65-F5344CB8AC3E}">
        <p14:creationId xmlns:p14="http://schemas.microsoft.com/office/powerpoint/2010/main" val="3926656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C5BB9A-59D7-98AB-D180-2AA97296A0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B42586-B66E-70DA-0398-108AC03DC9F6}"/>
              </a:ext>
            </a:extLst>
          </p:cNvPr>
          <p:cNvSpPr/>
          <p:nvPr/>
        </p:nvSpPr>
        <p:spPr>
          <a:xfrm>
            <a:off x="457200" y="320040"/>
            <a:ext cx="9144000" cy="292608"/>
          </a:xfrm>
          <a:prstGeom prst="rect">
            <a:avLst/>
          </a:prstGeom>
          <a:noFill/>
          <a:ln/>
        </p:spPr>
        <p:txBody>
          <a:bodyPr wrap="square" rtlCol="0" anchor="ctr"/>
          <a:lstStyle/>
          <a:p>
            <a:pPr marL="0" indent="0" algn="ctr">
              <a:buNone/>
            </a:pPr>
            <a:r>
              <a:rPr lang="en-US" sz="1400" b="1" kern="0" spc="200" dirty="0">
                <a:solidFill>
                  <a:srgbClr val="02C39A"/>
                </a:solidFill>
                <a:latin typeface="Calibri" pitchFamily="34" charset="0"/>
                <a:ea typeface="Calibri" pitchFamily="34" charset="-122"/>
                <a:cs typeface="Calibri" pitchFamily="34" charset="-120"/>
              </a:rPr>
              <a:t>INTRODUCTION</a:t>
            </a:r>
            <a:endParaRPr lang="en-US" sz="1400" dirty="0"/>
          </a:p>
        </p:txBody>
      </p:sp>
      <p:sp>
        <p:nvSpPr>
          <p:cNvPr id="3" name="Text 1">
            <a:extLst>
              <a:ext uri="{FF2B5EF4-FFF2-40B4-BE49-F238E27FC236}">
                <a16:creationId xmlns:a16="http://schemas.microsoft.com/office/drawing/2014/main" id="{7BAAA820-A948-E3B5-B661-EF32417F96D0}"/>
              </a:ext>
            </a:extLst>
          </p:cNvPr>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Definitions?</a:t>
            </a:r>
            <a:endParaRPr lang="en-US" sz="2800" dirty="0"/>
          </a:p>
        </p:txBody>
      </p:sp>
      <p:sp>
        <p:nvSpPr>
          <p:cNvPr id="4" name="Text 2">
            <a:extLst>
              <a:ext uri="{FF2B5EF4-FFF2-40B4-BE49-F238E27FC236}">
                <a16:creationId xmlns:a16="http://schemas.microsoft.com/office/drawing/2014/main" id="{F74AFC99-F46C-7E92-9B11-DD7DC8034D4A}"/>
              </a:ext>
            </a:extLst>
          </p:cNvPr>
          <p:cNvSpPr/>
          <p:nvPr/>
        </p:nvSpPr>
        <p:spPr>
          <a:xfrm>
            <a:off x="457200" y="1133856"/>
            <a:ext cx="6675120" cy="3531246"/>
          </a:xfrm>
          <a:prstGeom prst="rect">
            <a:avLst/>
          </a:prstGeom>
          <a:noFill/>
          <a:ln/>
        </p:spPr>
        <p:txBody>
          <a:bodyPr wrap="square" rtlCol="0" anchor="ctr"/>
          <a:lstStyle/>
          <a:p>
            <a:pPr marL="285750" indent="-285750">
              <a:buFont typeface="Arial" panose="020B0604020202020204" pitchFamily="34" charset="0"/>
              <a:buChar char="•"/>
            </a:pPr>
            <a:r>
              <a:rPr lang="en-US" b="1" dirty="0"/>
              <a:t>Tachycardia</a:t>
            </a:r>
            <a:r>
              <a:rPr lang="en-US" dirty="0"/>
              <a:t> means an abnormally fast heart rate, usually over 100 beats per minute at rest in adults. </a:t>
            </a:r>
          </a:p>
          <a:p>
            <a:endParaRPr lang="en-US" dirty="0"/>
          </a:p>
          <a:p>
            <a:pPr marL="285750" indent="-285750">
              <a:buFont typeface="Arial" panose="020B0604020202020204" pitchFamily="34" charset="0"/>
              <a:buChar char="•"/>
            </a:pPr>
            <a:r>
              <a:rPr lang="en-US" b="1" dirty="0"/>
              <a:t>Bradycardia</a:t>
            </a:r>
            <a:r>
              <a:rPr lang="en-US" dirty="0"/>
              <a:t> means an abnormally slow heart rate, usually below 60 beats per minute in adults, though it can be normal in some healthy people such as athletes.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Either one can be harmless in some situations, but they can also be a sign of an underlying </a:t>
            </a:r>
            <a:r>
              <a:rPr lang="en-US" b="1" dirty="0"/>
              <a:t>heart problem </a:t>
            </a:r>
            <a:r>
              <a:rPr lang="en-US" dirty="0"/>
              <a:t>or another medical condition. Symptoms can include </a:t>
            </a:r>
            <a:r>
              <a:rPr lang="en-US" b="1" dirty="0"/>
              <a:t>dizziness, fainting, shortness of breath, fatigue, or palpitations</a:t>
            </a:r>
            <a:r>
              <a:rPr lang="en-US" dirty="0"/>
              <a:t>.</a:t>
            </a:r>
          </a:p>
        </p:txBody>
      </p:sp>
      <p:sp>
        <p:nvSpPr>
          <p:cNvPr id="6" name="Shape 4">
            <a:extLst>
              <a:ext uri="{FF2B5EF4-FFF2-40B4-BE49-F238E27FC236}">
                <a16:creationId xmlns:a16="http://schemas.microsoft.com/office/drawing/2014/main" id="{DE7DF1D3-BEEE-A9B3-A67D-CC8B264C39B0}"/>
              </a:ext>
            </a:extLst>
          </p:cNvPr>
          <p:cNvSpPr/>
          <p:nvPr/>
        </p:nvSpPr>
        <p:spPr>
          <a:xfrm>
            <a:off x="7528560" y="1138012"/>
            <a:ext cx="4206240" cy="5474762"/>
          </a:xfrm>
          <a:prstGeom prst="roundRect">
            <a:avLst>
              <a:gd name="adj" fmla="val 2609"/>
            </a:avLst>
          </a:prstGeom>
          <a:solidFill>
            <a:srgbClr val="EAF6F7"/>
          </a:solidFill>
          <a:ln/>
        </p:spPr>
      </p:sp>
      <p:sp>
        <p:nvSpPr>
          <p:cNvPr id="7" name="Text 5">
            <a:extLst>
              <a:ext uri="{FF2B5EF4-FFF2-40B4-BE49-F238E27FC236}">
                <a16:creationId xmlns:a16="http://schemas.microsoft.com/office/drawing/2014/main" id="{543583A7-763D-6B0B-8790-1D2A42B7B83F}"/>
              </a:ext>
            </a:extLst>
          </p:cNvPr>
          <p:cNvSpPr/>
          <p:nvPr/>
        </p:nvSpPr>
        <p:spPr>
          <a:xfrm>
            <a:off x="7818120" y="1325880"/>
            <a:ext cx="3657600" cy="292608"/>
          </a:xfrm>
          <a:prstGeom prst="rect">
            <a:avLst/>
          </a:prstGeom>
          <a:noFill/>
          <a:ln/>
        </p:spPr>
        <p:txBody>
          <a:bodyPr wrap="square" rtlCol="0" anchor="ctr"/>
          <a:lstStyle/>
          <a:p>
            <a:pPr marL="0" indent="0">
              <a:buNone/>
            </a:pPr>
            <a:r>
              <a:rPr lang="en-US" sz="1600" b="1" kern="0" spc="150" dirty="0">
                <a:solidFill>
                  <a:srgbClr val="0F7A8C"/>
                </a:solidFill>
                <a:latin typeface="Calibri" pitchFamily="34" charset="0"/>
                <a:ea typeface="Calibri" pitchFamily="34" charset="-122"/>
                <a:cs typeface="Calibri" pitchFamily="34" charset="-120"/>
              </a:rPr>
              <a:t>PROJECT AT A GLANCE</a:t>
            </a:r>
            <a:endParaRPr lang="en-US" sz="1600" dirty="0"/>
          </a:p>
        </p:txBody>
      </p:sp>
      <p:sp>
        <p:nvSpPr>
          <p:cNvPr id="8" name="Text 6">
            <a:extLst>
              <a:ext uri="{FF2B5EF4-FFF2-40B4-BE49-F238E27FC236}">
                <a16:creationId xmlns:a16="http://schemas.microsoft.com/office/drawing/2014/main" id="{65E436E2-5F69-9BA7-F27E-3EA277833A40}"/>
              </a:ext>
            </a:extLst>
          </p:cNvPr>
          <p:cNvSpPr/>
          <p:nvPr/>
        </p:nvSpPr>
        <p:spPr>
          <a:xfrm>
            <a:off x="7818120" y="1965960"/>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DOMAIN</a:t>
            </a:r>
            <a:endParaRPr lang="en-US" sz="1100" dirty="0"/>
          </a:p>
        </p:txBody>
      </p:sp>
      <p:sp>
        <p:nvSpPr>
          <p:cNvPr id="9" name="Text 7">
            <a:extLst>
              <a:ext uri="{FF2B5EF4-FFF2-40B4-BE49-F238E27FC236}">
                <a16:creationId xmlns:a16="http://schemas.microsoft.com/office/drawing/2014/main" id="{EBCCAE8F-0C78-2C0D-AE81-9F79029F9F0B}"/>
              </a:ext>
            </a:extLst>
          </p:cNvPr>
          <p:cNvSpPr/>
          <p:nvPr/>
        </p:nvSpPr>
        <p:spPr>
          <a:xfrm>
            <a:off x="7818120" y="2185416"/>
            <a:ext cx="3566160" cy="31339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Clinical AI / Decision Support</a:t>
            </a:r>
            <a:endParaRPr lang="en-US" sz="1400" dirty="0"/>
          </a:p>
        </p:txBody>
      </p:sp>
      <p:sp>
        <p:nvSpPr>
          <p:cNvPr id="10" name="Text 8">
            <a:extLst>
              <a:ext uri="{FF2B5EF4-FFF2-40B4-BE49-F238E27FC236}">
                <a16:creationId xmlns:a16="http://schemas.microsoft.com/office/drawing/2014/main" id="{726E9618-9451-7D6B-84AD-5F062A131F19}"/>
              </a:ext>
            </a:extLst>
          </p:cNvPr>
          <p:cNvSpPr/>
          <p:nvPr/>
        </p:nvSpPr>
        <p:spPr>
          <a:xfrm>
            <a:off x="7818120" y="2679192"/>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DISEASES MODELLED</a:t>
            </a:r>
            <a:endParaRPr lang="en-US" sz="1100" dirty="0"/>
          </a:p>
        </p:txBody>
      </p:sp>
      <p:sp>
        <p:nvSpPr>
          <p:cNvPr id="11" name="Text 9">
            <a:extLst>
              <a:ext uri="{FF2B5EF4-FFF2-40B4-BE49-F238E27FC236}">
                <a16:creationId xmlns:a16="http://schemas.microsoft.com/office/drawing/2014/main" id="{BE6FF3B8-4341-746A-4DD2-AA6FD7AB326F}"/>
              </a:ext>
            </a:extLst>
          </p:cNvPr>
          <p:cNvSpPr/>
          <p:nvPr/>
        </p:nvSpPr>
        <p:spPr>
          <a:xfrm>
            <a:off x="7818120" y="2898648"/>
            <a:ext cx="3566160" cy="444731"/>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Diabetes, Hypertension, Heart Failure, Stroke</a:t>
            </a:r>
            <a:endParaRPr lang="en-US" sz="1400" dirty="0"/>
          </a:p>
        </p:txBody>
      </p:sp>
      <p:sp>
        <p:nvSpPr>
          <p:cNvPr id="12" name="Text 10">
            <a:extLst>
              <a:ext uri="{FF2B5EF4-FFF2-40B4-BE49-F238E27FC236}">
                <a16:creationId xmlns:a16="http://schemas.microsoft.com/office/drawing/2014/main" id="{30436852-23E5-E970-E326-3E1FF8132C7A}"/>
              </a:ext>
            </a:extLst>
          </p:cNvPr>
          <p:cNvSpPr/>
          <p:nvPr/>
        </p:nvSpPr>
        <p:spPr>
          <a:xfrm>
            <a:off x="7818120" y="3467239"/>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CORE ALGORITHM</a:t>
            </a:r>
            <a:endParaRPr lang="en-US" sz="1100" dirty="0"/>
          </a:p>
        </p:txBody>
      </p:sp>
      <p:sp>
        <p:nvSpPr>
          <p:cNvPr id="13" name="Text 11">
            <a:extLst>
              <a:ext uri="{FF2B5EF4-FFF2-40B4-BE49-F238E27FC236}">
                <a16:creationId xmlns:a16="http://schemas.microsoft.com/office/drawing/2014/main" id="{E87D481D-EF9E-DB1B-D52C-077B88ECDE05}"/>
              </a:ext>
            </a:extLst>
          </p:cNvPr>
          <p:cNvSpPr/>
          <p:nvPr/>
        </p:nvSpPr>
        <p:spPr>
          <a:xfrm>
            <a:off x="7818120" y="3611880"/>
            <a:ext cx="3566160" cy="45720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XGBoost (gradient-boosted trees)</a:t>
            </a:r>
            <a:endParaRPr lang="en-US" sz="1400" dirty="0"/>
          </a:p>
        </p:txBody>
      </p:sp>
      <p:sp>
        <p:nvSpPr>
          <p:cNvPr id="14" name="Text 12">
            <a:extLst>
              <a:ext uri="{FF2B5EF4-FFF2-40B4-BE49-F238E27FC236}">
                <a16:creationId xmlns:a16="http://schemas.microsoft.com/office/drawing/2014/main" id="{C7A14A2D-FB67-970D-8716-09BAD3BCF4C4}"/>
              </a:ext>
            </a:extLst>
          </p:cNvPr>
          <p:cNvSpPr/>
          <p:nvPr/>
        </p:nvSpPr>
        <p:spPr>
          <a:xfrm>
            <a:off x="7818120" y="4192940"/>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DATA SOURCE</a:t>
            </a:r>
            <a:endParaRPr lang="en-US" sz="1100" dirty="0"/>
          </a:p>
        </p:txBody>
      </p:sp>
      <p:sp>
        <p:nvSpPr>
          <p:cNvPr id="15" name="Text 13">
            <a:extLst>
              <a:ext uri="{FF2B5EF4-FFF2-40B4-BE49-F238E27FC236}">
                <a16:creationId xmlns:a16="http://schemas.microsoft.com/office/drawing/2014/main" id="{5B7DE599-C76B-6FBB-9C5B-AE2BFCB84485}"/>
              </a:ext>
            </a:extLst>
          </p:cNvPr>
          <p:cNvSpPr/>
          <p:nvPr/>
        </p:nvSpPr>
        <p:spPr>
          <a:xfrm>
            <a:off x="7818120" y="4414890"/>
            <a:ext cx="3566160" cy="250212"/>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CDC BRFSS 2015, 250,000+ records</a:t>
            </a:r>
            <a:endParaRPr lang="en-US" sz="1400" dirty="0"/>
          </a:p>
        </p:txBody>
      </p:sp>
      <p:sp>
        <p:nvSpPr>
          <p:cNvPr id="16" name="Text 14">
            <a:extLst>
              <a:ext uri="{FF2B5EF4-FFF2-40B4-BE49-F238E27FC236}">
                <a16:creationId xmlns:a16="http://schemas.microsoft.com/office/drawing/2014/main" id="{4E9A2EBD-4A6C-D2D1-8440-61F0579C4CDF}"/>
              </a:ext>
            </a:extLst>
          </p:cNvPr>
          <p:cNvSpPr/>
          <p:nvPr/>
        </p:nvSpPr>
        <p:spPr>
          <a:xfrm>
            <a:off x="7818120" y="4937760"/>
            <a:ext cx="3566160" cy="237744"/>
          </a:xfrm>
          <a:prstGeom prst="rect">
            <a:avLst/>
          </a:prstGeom>
          <a:noFill/>
          <a:ln/>
        </p:spPr>
        <p:txBody>
          <a:bodyPr wrap="square" rtlCol="0" anchor="ctr"/>
          <a:lstStyle/>
          <a:p>
            <a:pPr marL="0" indent="0">
              <a:buNone/>
            </a:pPr>
            <a:r>
              <a:rPr lang="en-US" sz="1200" b="1" kern="0" spc="50" dirty="0">
                <a:solidFill>
                  <a:srgbClr val="51707A"/>
                </a:solidFill>
                <a:latin typeface="Calibri" pitchFamily="34" charset="0"/>
                <a:ea typeface="Calibri" pitchFamily="34" charset="-122"/>
                <a:cs typeface="Calibri" pitchFamily="34" charset="-120"/>
              </a:rPr>
              <a:t>INTERFACE</a:t>
            </a:r>
            <a:endParaRPr lang="en-US" sz="1200" dirty="0"/>
          </a:p>
        </p:txBody>
      </p:sp>
      <p:sp>
        <p:nvSpPr>
          <p:cNvPr id="17" name="Text 15">
            <a:extLst>
              <a:ext uri="{FF2B5EF4-FFF2-40B4-BE49-F238E27FC236}">
                <a16:creationId xmlns:a16="http://schemas.microsoft.com/office/drawing/2014/main" id="{A3B65BB1-8E08-F13B-6E90-48FA99CB16A6}"/>
              </a:ext>
            </a:extLst>
          </p:cNvPr>
          <p:cNvSpPr/>
          <p:nvPr/>
        </p:nvSpPr>
        <p:spPr>
          <a:xfrm>
            <a:off x="7818120" y="5038344"/>
            <a:ext cx="3566160" cy="457200"/>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Gradio web application</a:t>
            </a:r>
            <a:endParaRPr lang="en-US" sz="1400" dirty="0"/>
          </a:p>
        </p:txBody>
      </p:sp>
      <p:sp>
        <p:nvSpPr>
          <p:cNvPr id="18" name="Text 16">
            <a:extLst>
              <a:ext uri="{FF2B5EF4-FFF2-40B4-BE49-F238E27FC236}">
                <a16:creationId xmlns:a16="http://schemas.microsoft.com/office/drawing/2014/main" id="{AB998BFD-2060-8D16-8A07-346CBAE45B53}"/>
              </a:ext>
            </a:extLst>
          </p:cNvPr>
          <p:cNvSpPr/>
          <p:nvPr/>
        </p:nvSpPr>
        <p:spPr>
          <a:xfrm>
            <a:off x="7818120" y="5598624"/>
            <a:ext cx="3566160" cy="237744"/>
          </a:xfrm>
          <a:prstGeom prst="rect">
            <a:avLst/>
          </a:prstGeom>
          <a:noFill/>
          <a:ln/>
        </p:spPr>
        <p:txBody>
          <a:bodyPr wrap="square" rtlCol="0" anchor="ctr"/>
          <a:lstStyle/>
          <a:p>
            <a:pPr marL="0" indent="0">
              <a:buNone/>
            </a:pPr>
            <a:r>
              <a:rPr lang="en-US" sz="1100" b="1" kern="0" spc="50" dirty="0">
                <a:solidFill>
                  <a:srgbClr val="51707A"/>
                </a:solidFill>
                <a:latin typeface="Calibri" pitchFamily="34" charset="0"/>
                <a:ea typeface="Calibri" pitchFamily="34" charset="-122"/>
                <a:cs typeface="Calibri" pitchFamily="34" charset="-120"/>
              </a:rPr>
              <a:t>OUTPUT</a:t>
            </a:r>
            <a:endParaRPr lang="en-US" sz="1100" dirty="0"/>
          </a:p>
        </p:txBody>
      </p:sp>
      <p:sp>
        <p:nvSpPr>
          <p:cNvPr id="19" name="Text 17">
            <a:extLst>
              <a:ext uri="{FF2B5EF4-FFF2-40B4-BE49-F238E27FC236}">
                <a16:creationId xmlns:a16="http://schemas.microsoft.com/office/drawing/2014/main" id="{6167E946-E136-E4D4-D301-9ADDA2DB7EFA}"/>
              </a:ext>
            </a:extLst>
          </p:cNvPr>
          <p:cNvSpPr/>
          <p:nvPr/>
        </p:nvSpPr>
        <p:spPr>
          <a:xfrm>
            <a:off x="7818120" y="5818080"/>
            <a:ext cx="3566160" cy="316715"/>
          </a:xfrm>
          <a:prstGeom prst="rect">
            <a:avLst/>
          </a:prstGeom>
          <a:noFill/>
          <a:ln/>
        </p:spPr>
        <p:txBody>
          <a:bodyPr wrap="square" rtlCol="0" anchor="ctr"/>
          <a:lstStyle/>
          <a:p>
            <a:pPr marL="0" indent="0">
              <a:lnSpc>
                <a:spcPct val="105000"/>
              </a:lnSpc>
              <a:buNone/>
            </a:pPr>
            <a:r>
              <a:rPr lang="en-US" sz="1400" dirty="0">
                <a:solidFill>
                  <a:srgbClr val="17313A"/>
                </a:solidFill>
                <a:latin typeface="Calibri" pitchFamily="34" charset="0"/>
                <a:ea typeface="Calibri" pitchFamily="34" charset="-122"/>
                <a:cs typeface="Calibri" pitchFamily="34" charset="-120"/>
              </a:rPr>
              <a:t>Risk %, vital-sign alerts, recommendations</a:t>
            </a:r>
            <a:endParaRPr lang="en-US" sz="1400" dirty="0"/>
          </a:p>
        </p:txBody>
      </p:sp>
      <p:sp>
        <p:nvSpPr>
          <p:cNvPr id="20" name="Text 18">
            <a:extLst>
              <a:ext uri="{FF2B5EF4-FFF2-40B4-BE49-F238E27FC236}">
                <a16:creationId xmlns:a16="http://schemas.microsoft.com/office/drawing/2014/main" id="{F22AD6F7-2D01-4190-BC4B-8D2E8B34345B}"/>
              </a:ext>
            </a:extLst>
          </p:cNvPr>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Introduction</a:t>
            </a:r>
            <a:endParaRPr lang="en-US" sz="1000" dirty="0"/>
          </a:p>
        </p:txBody>
      </p:sp>
      <p:sp>
        <p:nvSpPr>
          <p:cNvPr id="21" name="Text 19">
            <a:extLst>
              <a:ext uri="{FF2B5EF4-FFF2-40B4-BE49-F238E27FC236}">
                <a16:creationId xmlns:a16="http://schemas.microsoft.com/office/drawing/2014/main" id="{1EA1B40C-D1DF-2B2B-B8F4-80045B891DF7}"/>
              </a:ext>
            </a:extLst>
          </p:cNvPr>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2</a:t>
            </a:r>
            <a:endParaRPr lang="en-US" sz="1000" dirty="0"/>
          </a:p>
        </p:txBody>
      </p:sp>
    </p:spTree>
    <p:extLst>
      <p:ext uri="{BB962C8B-B14F-4D97-AF65-F5344CB8AC3E}">
        <p14:creationId xmlns:p14="http://schemas.microsoft.com/office/powerpoint/2010/main" val="278062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PROBLEM STATEMENT</a:t>
            </a:r>
            <a:endParaRPr lang="en-US" sz="16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The Clinical Challenge Being Solved</a:t>
            </a:r>
            <a:endParaRPr lang="en-US" sz="2800" dirty="0"/>
          </a:p>
        </p:txBody>
      </p:sp>
      <p:sp>
        <p:nvSpPr>
          <p:cNvPr id="4" name="Shape 2"/>
          <p:cNvSpPr/>
          <p:nvPr/>
        </p:nvSpPr>
        <p:spPr>
          <a:xfrm>
            <a:off x="457200" y="1417320"/>
            <a:ext cx="2697480" cy="2834640"/>
          </a:xfrm>
          <a:prstGeom prst="roundRect">
            <a:avLst>
              <a:gd name="adj" fmla="val 3390"/>
            </a:avLst>
          </a:prstGeom>
          <a:solidFill>
            <a:srgbClr val="EAF6F7"/>
          </a:solidFill>
          <a:ln/>
        </p:spPr>
      </p:sp>
      <p:sp>
        <p:nvSpPr>
          <p:cNvPr id="5" name="Shape 3"/>
          <p:cNvSpPr/>
          <p:nvPr/>
        </p:nvSpPr>
        <p:spPr>
          <a:xfrm>
            <a:off x="685800" y="1673352"/>
            <a:ext cx="548640" cy="548640"/>
          </a:xfrm>
          <a:prstGeom prst="ellipse">
            <a:avLst/>
          </a:prstGeom>
          <a:solidFill>
            <a:srgbClr val="0F7A8C"/>
          </a:solidFill>
          <a:ln/>
        </p:spPr>
      </p:sp>
      <p:sp>
        <p:nvSpPr>
          <p:cNvPr id="6" name="Text 4"/>
          <p:cNvSpPr/>
          <p:nvPr/>
        </p:nvSpPr>
        <p:spPr>
          <a:xfrm>
            <a:off x="685800" y="1673352"/>
            <a:ext cx="548640" cy="54864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658368" y="2350008"/>
            <a:ext cx="2295144" cy="548640"/>
          </a:xfrm>
          <a:prstGeom prst="rect">
            <a:avLst/>
          </a:prstGeom>
          <a:noFill/>
          <a:ln/>
        </p:spPr>
        <p:txBody>
          <a:bodyPr wrap="square" rtlCol="0" anchor="ctr"/>
          <a:lstStyle/>
          <a:p>
            <a:pPr marL="0" indent="0">
              <a:lnSpc>
                <a:spcPct val="105000"/>
              </a:lnSpc>
              <a:buNone/>
            </a:pPr>
            <a:r>
              <a:rPr lang="en-US" sz="1600" b="1" dirty="0">
                <a:solidFill>
                  <a:srgbClr val="0B3D4C"/>
                </a:solidFill>
                <a:latin typeface="Calibri" pitchFamily="34" charset="0"/>
                <a:ea typeface="Calibri" pitchFamily="34" charset="-122"/>
                <a:cs typeface="Calibri" pitchFamily="34" charset="-120"/>
              </a:rPr>
              <a:t>Overlapping conditions</a:t>
            </a:r>
            <a:endParaRPr lang="en-US" sz="1600" dirty="0"/>
          </a:p>
        </p:txBody>
      </p:sp>
      <p:sp>
        <p:nvSpPr>
          <p:cNvPr id="8" name="Text 6"/>
          <p:cNvSpPr/>
          <p:nvPr/>
        </p:nvSpPr>
        <p:spPr>
          <a:xfrm>
            <a:off x="658368" y="2880360"/>
            <a:ext cx="2295144" cy="1234440"/>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Diabetes, hypertension, heart failure and stroke are closely linked, risk of one often signals risk of the others.</a:t>
            </a:r>
            <a:endParaRPr lang="en-US" sz="1200" dirty="0"/>
          </a:p>
        </p:txBody>
      </p:sp>
      <p:sp>
        <p:nvSpPr>
          <p:cNvPr id="9" name="Shape 7"/>
          <p:cNvSpPr/>
          <p:nvPr/>
        </p:nvSpPr>
        <p:spPr>
          <a:xfrm>
            <a:off x="3337560" y="1417320"/>
            <a:ext cx="2697480" cy="2834640"/>
          </a:xfrm>
          <a:prstGeom prst="roundRect">
            <a:avLst>
              <a:gd name="adj" fmla="val 3390"/>
            </a:avLst>
          </a:prstGeom>
          <a:solidFill>
            <a:srgbClr val="EAF6F7"/>
          </a:solidFill>
          <a:ln/>
        </p:spPr>
      </p:sp>
      <p:sp>
        <p:nvSpPr>
          <p:cNvPr id="10" name="Shape 8"/>
          <p:cNvSpPr/>
          <p:nvPr/>
        </p:nvSpPr>
        <p:spPr>
          <a:xfrm>
            <a:off x="3566160" y="1673352"/>
            <a:ext cx="548640" cy="548640"/>
          </a:xfrm>
          <a:prstGeom prst="ellipse">
            <a:avLst/>
          </a:prstGeom>
          <a:solidFill>
            <a:srgbClr val="0F7A8C"/>
          </a:solidFill>
          <a:ln/>
        </p:spPr>
      </p:sp>
      <p:sp>
        <p:nvSpPr>
          <p:cNvPr id="11" name="Text 9"/>
          <p:cNvSpPr/>
          <p:nvPr/>
        </p:nvSpPr>
        <p:spPr>
          <a:xfrm>
            <a:off x="3566160" y="1673352"/>
            <a:ext cx="548640" cy="54864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3538728" y="2350008"/>
            <a:ext cx="2295144" cy="548640"/>
          </a:xfrm>
          <a:prstGeom prst="rect">
            <a:avLst/>
          </a:prstGeom>
          <a:noFill/>
          <a:ln/>
        </p:spPr>
        <p:txBody>
          <a:bodyPr wrap="square" rtlCol="0" anchor="ctr"/>
          <a:lstStyle/>
          <a:p>
            <a:pPr marL="0" indent="0">
              <a:lnSpc>
                <a:spcPct val="105000"/>
              </a:lnSpc>
              <a:buNone/>
            </a:pPr>
            <a:r>
              <a:rPr lang="en-US" sz="1600" b="1" dirty="0">
                <a:solidFill>
                  <a:srgbClr val="0B3D4C"/>
                </a:solidFill>
                <a:latin typeface="Calibri" pitchFamily="34" charset="0"/>
                <a:ea typeface="Calibri" pitchFamily="34" charset="-122"/>
                <a:cs typeface="Calibri" pitchFamily="34" charset="-120"/>
              </a:rPr>
              <a:t>Diagnosis usually comes late</a:t>
            </a:r>
            <a:endParaRPr lang="en-US" sz="1600" dirty="0"/>
          </a:p>
        </p:txBody>
      </p:sp>
      <p:sp>
        <p:nvSpPr>
          <p:cNvPr id="13" name="Text 11"/>
          <p:cNvSpPr/>
          <p:nvPr/>
        </p:nvSpPr>
        <p:spPr>
          <a:xfrm>
            <a:off x="3538728" y="2880360"/>
            <a:ext cx="2295144" cy="1234440"/>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Warning signs are scattered across lab history, lifestyle data and vital-sign monitors that clinicians rarely see side-by-side.</a:t>
            </a:r>
            <a:endParaRPr lang="en-US" sz="1200" dirty="0"/>
          </a:p>
        </p:txBody>
      </p:sp>
      <p:sp>
        <p:nvSpPr>
          <p:cNvPr id="14" name="Shape 12"/>
          <p:cNvSpPr/>
          <p:nvPr/>
        </p:nvSpPr>
        <p:spPr>
          <a:xfrm>
            <a:off x="6217920" y="1417320"/>
            <a:ext cx="2697480" cy="2834640"/>
          </a:xfrm>
          <a:prstGeom prst="roundRect">
            <a:avLst>
              <a:gd name="adj" fmla="val 3390"/>
            </a:avLst>
          </a:prstGeom>
          <a:solidFill>
            <a:srgbClr val="EAF6F7"/>
          </a:solidFill>
          <a:ln/>
        </p:spPr>
      </p:sp>
      <p:sp>
        <p:nvSpPr>
          <p:cNvPr id="15" name="Shape 13"/>
          <p:cNvSpPr/>
          <p:nvPr/>
        </p:nvSpPr>
        <p:spPr>
          <a:xfrm>
            <a:off x="6446520" y="1673352"/>
            <a:ext cx="548640" cy="548640"/>
          </a:xfrm>
          <a:prstGeom prst="ellipse">
            <a:avLst/>
          </a:prstGeom>
          <a:solidFill>
            <a:srgbClr val="0F7A8C"/>
          </a:solidFill>
          <a:ln/>
        </p:spPr>
      </p:sp>
      <p:sp>
        <p:nvSpPr>
          <p:cNvPr id="16" name="Text 14"/>
          <p:cNvSpPr/>
          <p:nvPr/>
        </p:nvSpPr>
        <p:spPr>
          <a:xfrm>
            <a:off x="6446520" y="1673352"/>
            <a:ext cx="548640" cy="54864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6419088" y="2350008"/>
            <a:ext cx="2295144" cy="548640"/>
          </a:xfrm>
          <a:prstGeom prst="rect">
            <a:avLst/>
          </a:prstGeom>
          <a:noFill/>
          <a:ln/>
        </p:spPr>
        <p:txBody>
          <a:bodyPr wrap="square" rtlCol="0" anchor="ctr"/>
          <a:lstStyle/>
          <a:p>
            <a:pPr marL="0" indent="0">
              <a:lnSpc>
                <a:spcPct val="105000"/>
              </a:lnSpc>
              <a:buNone/>
            </a:pPr>
            <a:r>
              <a:rPr lang="en-US" sz="1600" b="1" dirty="0">
                <a:solidFill>
                  <a:srgbClr val="0B3D4C"/>
                </a:solidFill>
                <a:latin typeface="Calibri" pitchFamily="34" charset="0"/>
                <a:ea typeface="Calibri" pitchFamily="34" charset="-122"/>
                <a:cs typeface="Calibri" pitchFamily="34" charset="-120"/>
              </a:rPr>
              <a:t>Screening capacity is limited</a:t>
            </a:r>
            <a:endParaRPr lang="en-US" sz="1600" dirty="0"/>
          </a:p>
        </p:txBody>
      </p:sp>
      <p:sp>
        <p:nvSpPr>
          <p:cNvPr id="18" name="Text 16"/>
          <p:cNvSpPr/>
          <p:nvPr/>
        </p:nvSpPr>
        <p:spPr>
          <a:xfrm>
            <a:off x="6419088" y="2880360"/>
            <a:ext cx="2295144" cy="1234440"/>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Many health systems lack enough specialists to individually screen every patient for every condition at every visit.</a:t>
            </a:r>
            <a:endParaRPr lang="en-US" sz="1200" dirty="0"/>
          </a:p>
        </p:txBody>
      </p:sp>
      <p:sp>
        <p:nvSpPr>
          <p:cNvPr id="19" name="Shape 17"/>
          <p:cNvSpPr/>
          <p:nvPr/>
        </p:nvSpPr>
        <p:spPr>
          <a:xfrm>
            <a:off x="9098280" y="1417320"/>
            <a:ext cx="2697480" cy="2834640"/>
          </a:xfrm>
          <a:prstGeom prst="roundRect">
            <a:avLst>
              <a:gd name="adj" fmla="val 3390"/>
            </a:avLst>
          </a:prstGeom>
          <a:solidFill>
            <a:srgbClr val="EAF6F7"/>
          </a:solidFill>
          <a:ln/>
        </p:spPr>
      </p:sp>
      <p:sp>
        <p:nvSpPr>
          <p:cNvPr id="20" name="Shape 18"/>
          <p:cNvSpPr/>
          <p:nvPr/>
        </p:nvSpPr>
        <p:spPr>
          <a:xfrm>
            <a:off x="9326880" y="1673352"/>
            <a:ext cx="548640" cy="548640"/>
          </a:xfrm>
          <a:prstGeom prst="ellipse">
            <a:avLst/>
          </a:prstGeom>
          <a:solidFill>
            <a:srgbClr val="0F7A8C"/>
          </a:solidFill>
          <a:ln/>
        </p:spPr>
      </p:sp>
      <p:sp>
        <p:nvSpPr>
          <p:cNvPr id="21" name="Text 19"/>
          <p:cNvSpPr/>
          <p:nvPr/>
        </p:nvSpPr>
        <p:spPr>
          <a:xfrm>
            <a:off x="9326880" y="1673352"/>
            <a:ext cx="548640" cy="54864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9299448" y="2350008"/>
            <a:ext cx="2295144" cy="548640"/>
          </a:xfrm>
          <a:prstGeom prst="rect">
            <a:avLst/>
          </a:prstGeom>
          <a:noFill/>
          <a:ln/>
        </p:spPr>
        <p:txBody>
          <a:bodyPr wrap="square" rtlCol="0" anchor="ctr"/>
          <a:lstStyle/>
          <a:p>
            <a:pPr marL="0" indent="0">
              <a:lnSpc>
                <a:spcPct val="105000"/>
              </a:lnSpc>
              <a:buNone/>
            </a:pPr>
            <a:r>
              <a:rPr lang="en-US" sz="1600" b="1" dirty="0">
                <a:solidFill>
                  <a:srgbClr val="0B3D4C"/>
                </a:solidFill>
                <a:latin typeface="Calibri" pitchFamily="34" charset="0"/>
                <a:ea typeface="Calibri" pitchFamily="34" charset="-122"/>
                <a:cs typeface="Calibri" pitchFamily="34" charset="-120"/>
              </a:rPr>
              <a:t>No unified early-warning tool</a:t>
            </a:r>
            <a:endParaRPr lang="en-US" sz="1600" dirty="0"/>
          </a:p>
        </p:txBody>
      </p:sp>
      <p:sp>
        <p:nvSpPr>
          <p:cNvPr id="23" name="Text 21"/>
          <p:cNvSpPr/>
          <p:nvPr/>
        </p:nvSpPr>
        <p:spPr>
          <a:xfrm>
            <a:off x="9299448" y="2880360"/>
            <a:ext cx="2295144" cy="1234440"/>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There is no single, accessible system fusing full medical history with live physiological signals to flag risk before a crisis.</a:t>
            </a:r>
            <a:endParaRPr lang="en-US" sz="1200" dirty="0"/>
          </a:p>
        </p:txBody>
      </p:sp>
      <p:sp>
        <p:nvSpPr>
          <p:cNvPr id="24" name="Shape 22"/>
          <p:cNvSpPr/>
          <p:nvPr/>
        </p:nvSpPr>
        <p:spPr>
          <a:xfrm>
            <a:off x="457200" y="4526280"/>
            <a:ext cx="11274552" cy="1417320"/>
          </a:xfrm>
          <a:prstGeom prst="roundRect">
            <a:avLst>
              <a:gd name="adj" fmla="val 6452"/>
            </a:avLst>
          </a:prstGeom>
          <a:solidFill>
            <a:srgbClr val="0B3D4C"/>
          </a:solidFill>
          <a:ln/>
        </p:spPr>
      </p:sp>
      <p:sp>
        <p:nvSpPr>
          <p:cNvPr id="25" name="Text 23"/>
          <p:cNvSpPr/>
          <p:nvPr/>
        </p:nvSpPr>
        <p:spPr>
          <a:xfrm>
            <a:off x="822960" y="4681728"/>
            <a:ext cx="5486400" cy="274320"/>
          </a:xfrm>
          <a:prstGeom prst="rect">
            <a:avLst/>
          </a:prstGeom>
          <a:noFill/>
          <a:ln/>
        </p:spPr>
        <p:txBody>
          <a:bodyPr wrap="square" rtlCol="0" anchor="ctr"/>
          <a:lstStyle/>
          <a:p>
            <a:pPr marL="0" indent="0">
              <a:buNone/>
            </a:pPr>
            <a:r>
              <a:rPr lang="en-US" sz="1400" b="1" kern="0" spc="150" dirty="0">
                <a:solidFill>
                  <a:srgbClr val="02C39A"/>
                </a:solidFill>
                <a:latin typeface="Calibri" pitchFamily="34" charset="0"/>
                <a:ea typeface="Calibri" pitchFamily="34" charset="-122"/>
                <a:cs typeface="Calibri" pitchFamily="34" charset="-120"/>
              </a:rPr>
              <a:t>RESEARCH QUESTION</a:t>
            </a:r>
            <a:endParaRPr lang="en-US" sz="1400" dirty="0"/>
          </a:p>
        </p:txBody>
      </p:sp>
      <p:sp>
        <p:nvSpPr>
          <p:cNvPr id="26" name="Text 24"/>
          <p:cNvSpPr/>
          <p:nvPr/>
        </p:nvSpPr>
        <p:spPr>
          <a:xfrm>
            <a:off x="822960" y="4956048"/>
            <a:ext cx="10515600" cy="868680"/>
          </a:xfrm>
          <a:prstGeom prst="rect">
            <a:avLst/>
          </a:prstGeom>
          <a:noFill/>
          <a:ln/>
        </p:spPr>
        <p:txBody>
          <a:bodyPr wrap="square" rtlCol="0" anchor="ctr"/>
          <a:lstStyle/>
          <a:p>
            <a:pPr marL="0" indent="0">
              <a:lnSpc>
                <a:spcPct val="120000"/>
              </a:lnSpc>
              <a:buNone/>
            </a:pPr>
            <a:r>
              <a:rPr lang="en-US" i="1" dirty="0">
                <a:solidFill>
                  <a:srgbClr val="FFFFFF"/>
                </a:solidFill>
                <a:latin typeface="Calibri" pitchFamily="34" charset="0"/>
                <a:ea typeface="Calibri" pitchFamily="34" charset="-122"/>
                <a:cs typeface="Calibri" pitchFamily="34" charset="-120"/>
              </a:rPr>
              <a:t>Can a single machine-learning-driven system combine historical and real-time patient data to reliably estimate multi-disease risk and guide clinical decisions and actions?</a:t>
            </a:r>
            <a:endParaRPr lang="en-US" dirty="0"/>
          </a:p>
        </p:txBody>
      </p:sp>
      <p:sp>
        <p:nvSpPr>
          <p:cNvPr id="27" name="Text 25"/>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Problem Statement</a:t>
            </a:r>
            <a:endParaRPr lang="en-US" sz="1000" dirty="0"/>
          </a:p>
        </p:txBody>
      </p:sp>
      <p:sp>
        <p:nvSpPr>
          <p:cNvPr id="28" name="Text 26"/>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2000" b="1" kern="0" spc="200" dirty="0">
                <a:solidFill>
                  <a:srgbClr val="02C39A"/>
                </a:solidFill>
                <a:latin typeface="Calibri" pitchFamily="34" charset="0"/>
                <a:ea typeface="Calibri" pitchFamily="34" charset="-122"/>
                <a:cs typeface="Calibri" pitchFamily="34" charset="-120"/>
              </a:rPr>
              <a:t>OBJECTIVES</a:t>
            </a:r>
            <a:endParaRPr lang="en-US" sz="20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Objectives of the System</a:t>
            </a:r>
            <a:endParaRPr lang="en-US" sz="2800" dirty="0"/>
          </a:p>
        </p:txBody>
      </p:sp>
      <p:sp>
        <p:nvSpPr>
          <p:cNvPr id="4" name="Shape 2"/>
          <p:cNvSpPr/>
          <p:nvPr/>
        </p:nvSpPr>
        <p:spPr>
          <a:xfrm>
            <a:off x="457200" y="1426464"/>
            <a:ext cx="457200" cy="457200"/>
          </a:xfrm>
          <a:prstGeom prst="ellipse">
            <a:avLst/>
          </a:prstGeom>
          <a:solidFill>
            <a:srgbClr val="0F7A8C"/>
          </a:solidFill>
          <a:ln/>
        </p:spPr>
      </p:sp>
      <p:sp>
        <p:nvSpPr>
          <p:cNvPr id="5" name="Text 3"/>
          <p:cNvSpPr/>
          <p:nvPr/>
        </p:nvSpPr>
        <p:spPr>
          <a:xfrm>
            <a:off x="457200" y="142646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371600"/>
            <a:ext cx="4160520" cy="566927"/>
          </a:xfrm>
          <a:prstGeom prst="rect">
            <a:avLst/>
          </a:prstGeom>
          <a:noFill/>
          <a:ln/>
        </p:spPr>
        <p:txBody>
          <a:bodyPr wrap="square" rtlCol="0" anchor="ctr"/>
          <a:lstStyle/>
          <a:p>
            <a:pPr marL="0" indent="0">
              <a:lnSpc>
                <a:spcPct val="110000"/>
              </a:lnSpc>
              <a:buNone/>
            </a:pPr>
            <a:r>
              <a:rPr lang="en-US" sz="1600" b="1" dirty="0">
                <a:solidFill>
                  <a:srgbClr val="0B3D4C"/>
                </a:solidFill>
                <a:latin typeface="Calibri" pitchFamily="34" charset="0"/>
                <a:ea typeface="Calibri" pitchFamily="34" charset="-122"/>
                <a:cs typeface="Calibri" pitchFamily="34" charset="-120"/>
              </a:rPr>
              <a:t>Unify prediction across five diseases</a:t>
            </a:r>
            <a:endParaRPr lang="en-US" sz="1600" dirty="0"/>
          </a:p>
        </p:txBody>
      </p:sp>
      <p:sp>
        <p:nvSpPr>
          <p:cNvPr id="7" name="Shape 5"/>
          <p:cNvSpPr/>
          <p:nvPr/>
        </p:nvSpPr>
        <p:spPr>
          <a:xfrm>
            <a:off x="5486400" y="1828800"/>
            <a:ext cx="914" cy="0"/>
          </a:xfrm>
          <a:prstGeom prst="line">
            <a:avLst/>
          </a:prstGeom>
          <a:noFill/>
          <a:ln/>
        </p:spPr>
      </p:sp>
      <p:sp>
        <p:nvSpPr>
          <p:cNvPr id="8" name="Text 6"/>
          <p:cNvSpPr/>
          <p:nvPr/>
        </p:nvSpPr>
        <p:spPr>
          <a:xfrm>
            <a:off x="5532120" y="1371600"/>
            <a:ext cx="6199632" cy="932688"/>
          </a:xfrm>
          <a:prstGeom prst="rect">
            <a:avLst/>
          </a:prstGeom>
          <a:noFill/>
          <a:ln/>
        </p:spPr>
        <p:txBody>
          <a:bodyPr wrap="square" rtlCol="0" anchor="ctr"/>
          <a:lstStyle/>
          <a:p>
            <a:pPr marL="0" indent="0">
              <a:lnSpc>
                <a:spcPct val="115000"/>
              </a:lnSpc>
              <a:buNone/>
            </a:pPr>
            <a:r>
              <a:rPr lang="en-US" sz="1400" dirty="0">
                <a:solidFill>
                  <a:srgbClr val="17313A"/>
                </a:solidFill>
                <a:latin typeface="Calibri" pitchFamily="34" charset="0"/>
                <a:ea typeface="Calibri" pitchFamily="34" charset="-122"/>
                <a:cs typeface="Calibri" pitchFamily="34" charset="-120"/>
              </a:rPr>
              <a:t>Build one shared pipeline that estimates risk for diabetes, hypertension, heart failure and stroke, from a common set of patient inputs.</a:t>
            </a:r>
            <a:endParaRPr lang="en-US" sz="1400" dirty="0"/>
          </a:p>
        </p:txBody>
      </p:sp>
      <p:sp>
        <p:nvSpPr>
          <p:cNvPr id="9" name="Shape 7"/>
          <p:cNvSpPr/>
          <p:nvPr/>
        </p:nvSpPr>
        <p:spPr>
          <a:xfrm>
            <a:off x="457200" y="2322576"/>
            <a:ext cx="11274552" cy="0"/>
          </a:xfrm>
          <a:prstGeom prst="line">
            <a:avLst/>
          </a:prstGeom>
          <a:noFill/>
          <a:ln w="12700">
            <a:solidFill>
              <a:srgbClr val="D3E6E9"/>
            </a:solidFill>
            <a:prstDash val="solid"/>
          </a:ln>
        </p:spPr>
      </p:sp>
      <p:sp>
        <p:nvSpPr>
          <p:cNvPr id="10" name="Shape 8"/>
          <p:cNvSpPr/>
          <p:nvPr/>
        </p:nvSpPr>
        <p:spPr>
          <a:xfrm>
            <a:off x="457200" y="2537880"/>
            <a:ext cx="457200" cy="457200"/>
          </a:xfrm>
          <a:prstGeom prst="ellipse">
            <a:avLst/>
          </a:prstGeom>
          <a:solidFill>
            <a:srgbClr val="02C39A"/>
          </a:solidFill>
          <a:ln/>
        </p:spPr>
      </p:sp>
      <p:sp>
        <p:nvSpPr>
          <p:cNvPr id="11" name="Text 9"/>
          <p:cNvSpPr/>
          <p:nvPr/>
        </p:nvSpPr>
        <p:spPr>
          <a:xfrm>
            <a:off x="457200" y="252125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143000" y="2350008"/>
            <a:ext cx="4160520" cy="932688"/>
          </a:xfrm>
          <a:prstGeom prst="rect">
            <a:avLst/>
          </a:prstGeom>
          <a:noFill/>
          <a:ln/>
        </p:spPr>
        <p:txBody>
          <a:bodyPr wrap="square" rtlCol="0" anchor="ctr"/>
          <a:lstStyle/>
          <a:p>
            <a:pPr marL="0" indent="0">
              <a:lnSpc>
                <a:spcPct val="110000"/>
              </a:lnSpc>
              <a:buNone/>
            </a:pPr>
            <a:r>
              <a:rPr lang="en-US" sz="1600" b="1" dirty="0">
                <a:solidFill>
                  <a:srgbClr val="0B3D4C"/>
                </a:solidFill>
                <a:latin typeface="Calibri" pitchFamily="34" charset="0"/>
                <a:ea typeface="Calibri" pitchFamily="34" charset="-122"/>
                <a:cs typeface="Calibri" pitchFamily="34" charset="-120"/>
              </a:rPr>
              <a:t>Combine history with the present moment</a:t>
            </a:r>
            <a:endParaRPr lang="en-US" sz="1600" dirty="0"/>
          </a:p>
        </p:txBody>
      </p:sp>
      <p:sp>
        <p:nvSpPr>
          <p:cNvPr id="13" name="Shape 11"/>
          <p:cNvSpPr/>
          <p:nvPr/>
        </p:nvSpPr>
        <p:spPr>
          <a:xfrm>
            <a:off x="5486400" y="2807208"/>
            <a:ext cx="914" cy="0"/>
          </a:xfrm>
          <a:prstGeom prst="line">
            <a:avLst/>
          </a:prstGeom>
          <a:noFill/>
          <a:ln/>
        </p:spPr>
      </p:sp>
      <p:sp>
        <p:nvSpPr>
          <p:cNvPr id="14" name="Text 12"/>
          <p:cNvSpPr/>
          <p:nvPr/>
        </p:nvSpPr>
        <p:spPr>
          <a:xfrm>
            <a:off x="5532120" y="2350008"/>
            <a:ext cx="6199632" cy="932688"/>
          </a:xfrm>
          <a:prstGeom prst="rect">
            <a:avLst/>
          </a:prstGeom>
          <a:noFill/>
          <a:ln/>
        </p:spPr>
        <p:txBody>
          <a:bodyPr wrap="square" rtlCol="0" anchor="ctr"/>
          <a:lstStyle/>
          <a:p>
            <a:pPr marL="0" indent="0">
              <a:lnSpc>
                <a:spcPct val="115000"/>
              </a:lnSpc>
              <a:buNone/>
            </a:pPr>
            <a:r>
              <a:rPr lang="en-US" sz="1400" dirty="0">
                <a:solidFill>
                  <a:srgbClr val="17313A"/>
                </a:solidFill>
                <a:latin typeface="Calibri" pitchFamily="34" charset="0"/>
                <a:ea typeface="Calibri" pitchFamily="34" charset="-122"/>
                <a:cs typeface="Calibri" pitchFamily="34" charset="-120"/>
              </a:rPr>
              <a:t>Merge longitudinal medical history with real-time vitals (heart rate, SpO2) so risk is monitored continuously, not just at a single checkup.</a:t>
            </a:r>
            <a:endParaRPr lang="en-US" sz="1400" dirty="0"/>
          </a:p>
        </p:txBody>
      </p:sp>
      <p:sp>
        <p:nvSpPr>
          <p:cNvPr id="15" name="Shape 13"/>
          <p:cNvSpPr/>
          <p:nvPr/>
        </p:nvSpPr>
        <p:spPr>
          <a:xfrm>
            <a:off x="457200" y="3300984"/>
            <a:ext cx="11274552" cy="0"/>
          </a:xfrm>
          <a:prstGeom prst="line">
            <a:avLst/>
          </a:prstGeom>
          <a:noFill/>
          <a:ln w="12700">
            <a:solidFill>
              <a:srgbClr val="D3E6E9"/>
            </a:solidFill>
            <a:prstDash val="solid"/>
          </a:ln>
        </p:spPr>
      </p:sp>
      <p:sp>
        <p:nvSpPr>
          <p:cNvPr id="16" name="Shape 14"/>
          <p:cNvSpPr/>
          <p:nvPr/>
        </p:nvSpPr>
        <p:spPr>
          <a:xfrm>
            <a:off x="457200" y="3441471"/>
            <a:ext cx="457200" cy="457200"/>
          </a:xfrm>
          <a:prstGeom prst="ellipse">
            <a:avLst/>
          </a:prstGeom>
          <a:solidFill>
            <a:srgbClr val="0F7A8C"/>
          </a:solidFill>
          <a:ln/>
        </p:spPr>
      </p:sp>
      <p:sp>
        <p:nvSpPr>
          <p:cNvPr id="17" name="Text 15"/>
          <p:cNvSpPr/>
          <p:nvPr/>
        </p:nvSpPr>
        <p:spPr>
          <a:xfrm>
            <a:off x="457200" y="3441471"/>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143000" y="3328416"/>
            <a:ext cx="4160520" cy="685799"/>
          </a:xfrm>
          <a:prstGeom prst="rect">
            <a:avLst/>
          </a:prstGeom>
          <a:noFill/>
          <a:ln/>
        </p:spPr>
        <p:txBody>
          <a:bodyPr wrap="square" rtlCol="0" anchor="ctr"/>
          <a:lstStyle/>
          <a:p>
            <a:pPr marL="0" indent="0">
              <a:lnSpc>
                <a:spcPct val="110000"/>
              </a:lnSpc>
              <a:buNone/>
            </a:pPr>
            <a:r>
              <a:rPr lang="en-US" sz="1600" b="1" dirty="0">
                <a:solidFill>
                  <a:srgbClr val="0B3D4C"/>
                </a:solidFill>
                <a:latin typeface="Calibri" pitchFamily="34" charset="0"/>
                <a:ea typeface="Calibri" pitchFamily="34" charset="-122"/>
                <a:cs typeface="Calibri" pitchFamily="34" charset="-120"/>
              </a:rPr>
              <a:t>Turn numbers into action</a:t>
            </a:r>
            <a:endParaRPr lang="en-US" sz="1600" dirty="0"/>
          </a:p>
        </p:txBody>
      </p:sp>
      <p:sp>
        <p:nvSpPr>
          <p:cNvPr id="19" name="Shape 17"/>
          <p:cNvSpPr/>
          <p:nvPr/>
        </p:nvSpPr>
        <p:spPr>
          <a:xfrm>
            <a:off x="5486400" y="3785616"/>
            <a:ext cx="914" cy="0"/>
          </a:xfrm>
          <a:prstGeom prst="line">
            <a:avLst/>
          </a:prstGeom>
          <a:noFill/>
          <a:ln/>
        </p:spPr>
      </p:sp>
      <p:sp>
        <p:nvSpPr>
          <p:cNvPr id="20" name="Text 18"/>
          <p:cNvSpPr/>
          <p:nvPr/>
        </p:nvSpPr>
        <p:spPr>
          <a:xfrm>
            <a:off x="5532120" y="3328416"/>
            <a:ext cx="6199632" cy="932688"/>
          </a:xfrm>
          <a:prstGeom prst="rect">
            <a:avLst/>
          </a:prstGeom>
          <a:noFill/>
          <a:ln/>
        </p:spPr>
        <p:txBody>
          <a:bodyPr wrap="square" rtlCol="0" anchor="ctr"/>
          <a:lstStyle/>
          <a:p>
            <a:pPr marL="0" indent="0">
              <a:lnSpc>
                <a:spcPct val="115000"/>
              </a:lnSpc>
              <a:buNone/>
            </a:pPr>
            <a:r>
              <a:rPr lang="en-US" sz="1400" dirty="0">
                <a:solidFill>
                  <a:srgbClr val="17313A"/>
                </a:solidFill>
                <a:latin typeface="Calibri" pitchFamily="34" charset="0"/>
                <a:ea typeface="Calibri" pitchFamily="34" charset="-122"/>
                <a:cs typeface="Calibri" pitchFamily="34" charset="-120"/>
              </a:rPr>
              <a:t>Pair every risk percentage with a plain-language clinical recommendation, so results are usable at the point of care.</a:t>
            </a:r>
            <a:endParaRPr lang="en-US" sz="1400" dirty="0"/>
          </a:p>
        </p:txBody>
      </p:sp>
      <p:sp>
        <p:nvSpPr>
          <p:cNvPr id="21" name="Shape 19"/>
          <p:cNvSpPr/>
          <p:nvPr/>
        </p:nvSpPr>
        <p:spPr>
          <a:xfrm>
            <a:off x="457200" y="4279392"/>
            <a:ext cx="11274552" cy="0"/>
          </a:xfrm>
          <a:prstGeom prst="line">
            <a:avLst/>
          </a:prstGeom>
          <a:noFill/>
          <a:ln w="12700">
            <a:solidFill>
              <a:srgbClr val="D3E6E9"/>
            </a:solidFill>
            <a:prstDash val="solid"/>
          </a:ln>
        </p:spPr>
      </p:sp>
      <p:sp>
        <p:nvSpPr>
          <p:cNvPr id="22" name="Shape 20"/>
          <p:cNvSpPr/>
          <p:nvPr/>
        </p:nvSpPr>
        <p:spPr>
          <a:xfrm>
            <a:off x="457200" y="4419879"/>
            <a:ext cx="457200" cy="457200"/>
          </a:xfrm>
          <a:prstGeom prst="ellipse">
            <a:avLst/>
          </a:prstGeom>
          <a:solidFill>
            <a:srgbClr val="02C39A"/>
          </a:solidFill>
          <a:ln/>
        </p:spPr>
      </p:sp>
      <p:sp>
        <p:nvSpPr>
          <p:cNvPr id="23" name="Text 21"/>
          <p:cNvSpPr/>
          <p:nvPr/>
        </p:nvSpPr>
        <p:spPr>
          <a:xfrm>
            <a:off x="457200" y="4403253"/>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1143000" y="4306824"/>
            <a:ext cx="4160520" cy="722373"/>
          </a:xfrm>
          <a:prstGeom prst="rect">
            <a:avLst/>
          </a:prstGeom>
          <a:noFill/>
          <a:ln/>
        </p:spPr>
        <p:txBody>
          <a:bodyPr wrap="square" rtlCol="0" anchor="ctr"/>
          <a:lstStyle/>
          <a:p>
            <a:pPr marL="0" indent="0">
              <a:lnSpc>
                <a:spcPct val="110000"/>
              </a:lnSpc>
              <a:buNone/>
            </a:pPr>
            <a:r>
              <a:rPr lang="en-US" sz="1600" b="1" dirty="0">
                <a:solidFill>
                  <a:srgbClr val="0B3D4C"/>
                </a:solidFill>
                <a:latin typeface="Calibri" pitchFamily="34" charset="0"/>
                <a:ea typeface="Calibri" pitchFamily="34" charset="-122"/>
                <a:cs typeface="Calibri" pitchFamily="34" charset="-120"/>
              </a:rPr>
              <a:t>Make it accessible, not just accurate</a:t>
            </a:r>
            <a:endParaRPr lang="en-US" sz="1600" dirty="0"/>
          </a:p>
        </p:txBody>
      </p:sp>
      <p:sp>
        <p:nvSpPr>
          <p:cNvPr id="25" name="Shape 23"/>
          <p:cNvSpPr/>
          <p:nvPr/>
        </p:nvSpPr>
        <p:spPr>
          <a:xfrm>
            <a:off x="5486400" y="4764024"/>
            <a:ext cx="914" cy="0"/>
          </a:xfrm>
          <a:prstGeom prst="line">
            <a:avLst/>
          </a:prstGeom>
          <a:noFill/>
          <a:ln/>
        </p:spPr>
      </p:sp>
      <p:sp>
        <p:nvSpPr>
          <p:cNvPr id="26" name="Text 24"/>
          <p:cNvSpPr/>
          <p:nvPr/>
        </p:nvSpPr>
        <p:spPr>
          <a:xfrm>
            <a:off x="5532120" y="4306824"/>
            <a:ext cx="6199632" cy="932688"/>
          </a:xfrm>
          <a:prstGeom prst="rect">
            <a:avLst/>
          </a:prstGeom>
          <a:noFill/>
          <a:ln/>
        </p:spPr>
        <p:txBody>
          <a:bodyPr wrap="square" rtlCol="0" anchor="ctr"/>
          <a:lstStyle/>
          <a:p>
            <a:pPr marL="0" indent="0">
              <a:lnSpc>
                <a:spcPct val="115000"/>
              </a:lnSpc>
              <a:buNone/>
            </a:pPr>
            <a:r>
              <a:rPr lang="en-US" sz="1400" dirty="0">
                <a:solidFill>
                  <a:srgbClr val="17313A"/>
                </a:solidFill>
                <a:latin typeface="Calibri" pitchFamily="34" charset="0"/>
                <a:ea typeface="Calibri" pitchFamily="34" charset="-122"/>
                <a:cs typeface="Calibri" pitchFamily="34" charset="-120"/>
              </a:rPr>
              <a:t>Package the model behind a simple, no-code web interface any clinician or trained health worker can operate.</a:t>
            </a:r>
            <a:endParaRPr lang="en-US" sz="1400" dirty="0"/>
          </a:p>
        </p:txBody>
      </p:sp>
      <p:sp>
        <p:nvSpPr>
          <p:cNvPr id="27" name="Shape 25"/>
          <p:cNvSpPr/>
          <p:nvPr/>
        </p:nvSpPr>
        <p:spPr>
          <a:xfrm>
            <a:off x="457200" y="5257800"/>
            <a:ext cx="11274552" cy="0"/>
          </a:xfrm>
          <a:prstGeom prst="line">
            <a:avLst/>
          </a:prstGeom>
          <a:noFill/>
          <a:ln w="12700">
            <a:solidFill>
              <a:srgbClr val="D3E6E9"/>
            </a:solidFill>
            <a:prstDash val="solid"/>
          </a:ln>
        </p:spPr>
      </p:sp>
      <p:sp>
        <p:nvSpPr>
          <p:cNvPr id="28" name="Shape 26"/>
          <p:cNvSpPr/>
          <p:nvPr/>
        </p:nvSpPr>
        <p:spPr>
          <a:xfrm>
            <a:off x="457200" y="5456478"/>
            <a:ext cx="457200" cy="457200"/>
          </a:xfrm>
          <a:prstGeom prst="ellipse">
            <a:avLst/>
          </a:prstGeom>
          <a:solidFill>
            <a:srgbClr val="0F7A8C"/>
          </a:solidFill>
          <a:ln/>
        </p:spPr>
      </p:sp>
      <p:sp>
        <p:nvSpPr>
          <p:cNvPr id="29" name="Text 27"/>
          <p:cNvSpPr/>
          <p:nvPr/>
        </p:nvSpPr>
        <p:spPr>
          <a:xfrm>
            <a:off x="457200" y="543985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143000" y="5285232"/>
            <a:ext cx="4160520" cy="832934"/>
          </a:xfrm>
          <a:prstGeom prst="rect">
            <a:avLst/>
          </a:prstGeom>
          <a:noFill/>
          <a:ln/>
        </p:spPr>
        <p:txBody>
          <a:bodyPr wrap="square" rtlCol="0" anchor="ctr"/>
          <a:lstStyle/>
          <a:p>
            <a:pPr marL="0" indent="0">
              <a:lnSpc>
                <a:spcPct val="110000"/>
              </a:lnSpc>
              <a:buNone/>
            </a:pPr>
            <a:r>
              <a:rPr lang="en-US" sz="1600" b="1" dirty="0">
                <a:solidFill>
                  <a:srgbClr val="0B3D4C"/>
                </a:solidFill>
                <a:latin typeface="Calibri" pitchFamily="34" charset="0"/>
                <a:ea typeface="Calibri" pitchFamily="34" charset="-122"/>
                <a:cs typeface="Calibri" pitchFamily="34" charset="-120"/>
              </a:rPr>
              <a:t>Build for retraining</a:t>
            </a:r>
            <a:endParaRPr lang="en-US" sz="1600" dirty="0"/>
          </a:p>
        </p:txBody>
      </p:sp>
      <p:sp>
        <p:nvSpPr>
          <p:cNvPr id="31" name="Shape 29"/>
          <p:cNvSpPr/>
          <p:nvPr/>
        </p:nvSpPr>
        <p:spPr>
          <a:xfrm>
            <a:off x="5486400" y="5742432"/>
            <a:ext cx="914" cy="0"/>
          </a:xfrm>
          <a:prstGeom prst="line">
            <a:avLst/>
          </a:prstGeom>
          <a:noFill/>
          <a:ln/>
        </p:spPr>
      </p:sp>
      <p:sp>
        <p:nvSpPr>
          <p:cNvPr id="32" name="Text 30"/>
          <p:cNvSpPr/>
          <p:nvPr/>
        </p:nvSpPr>
        <p:spPr>
          <a:xfrm>
            <a:off x="5532120" y="5285232"/>
            <a:ext cx="6199632" cy="932688"/>
          </a:xfrm>
          <a:prstGeom prst="rect">
            <a:avLst/>
          </a:prstGeom>
          <a:noFill/>
          <a:ln/>
        </p:spPr>
        <p:txBody>
          <a:bodyPr wrap="square" rtlCol="0" anchor="ctr"/>
          <a:lstStyle/>
          <a:p>
            <a:pPr marL="0" indent="0">
              <a:lnSpc>
                <a:spcPct val="115000"/>
              </a:lnSpc>
              <a:buNone/>
            </a:pPr>
            <a:r>
              <a:rPr lang="en-US" sz="1400" dirty="0">
                <a:solidFill>
                  <a:srgbClr val="17313A"/>
                </a:solidFill>
                <a:latin typeface="Calibri" pitchFamily="34" charset="0"/>
                <a:ea typeface="Calibri" pitchFamily="34" charset="-122"/>
                <a:cs typeface="Calibri" pitchFamily="34" charset="-120"/>
              </a:rPr>
              <a:t>Establish a reproducible ML pipeline that can be updated as more, and better-labelled, clinical data becomes available.</a:t>
            </a:r>
            <a:endParaRPr lang="en-US" sz="1400" dirty="0"/>
          </a:p>
        </p:txBody>
      </p:sp>
      <p:sp>
        <p:nvSpPr>
          <p:cNvPr id="33" name="Text 31"/>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Objectives of the System</a:t>
            </a:r>
            <a:endParaRPr lang="en-US" sz="1000" dirty="0"/>
          </a:p>
        </p:txBody>
      </p:sp>
      <p:sp>
        <p:nvSpPr>
          <p:cNvPr id="34" name="Text 32"/>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2000" b="1" kern="0" spc="200" dirty="0">
                <a:solidFill>
                  <a:srgbClr val="02C39A"/>
                </a:solidFill>
                <a:latin typeface="Calibri" pitchFamily="34" charset="0"/>
                <a:ea typeface="Calibri" pitchFamily="34" charset="-122"/>
                <a:cs typeface="Calibri" pitchFamily="34" charset="-120"/>
              </a:rPr>
              <a:t>SCOPE</a:t>
            </a:r>
            <a:endParaRPr lang="en-US" sz="20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Scope of the System</a:t>
            </a:r>
            <a:endParaRPr lang="en-US" sz="2800" dirty="0"/>
          </a:p>
        </p:txBody>
      </p:sp>
      <p:sp>
        <p:nvSpPr>
          <p:cNvPr id="4" name="Shape 2"/>
          <p:cNvSpPr/>
          <p:nvPr/>
        </p:nvSpPr>
        <p:spPr>
          <a:xfrm>
            <a:off x="457200" y="1371600"/>
            <a:ext cx="5394960" cy="4572000"/>
          </a:xfrm>
          <a:prstGeom prst="roundRect">
            <a:avLst>
              <a:gd name="adj" fmla="val 2000"/>
            </a:avLst>
          </a:prstGeom>
          <a:solidFill>
            <a:srgbClr val="EAF6F7"/>
          </a:solidFill>
          <a:ln/>
        </p:spPr>
      </p:sp>
      <p:sp>
        <p:nvSpPr>
          <p:cNvPr id="5" name="Text 3"/>
          <p:cNvSpPr/>
          <p:nvPr/>
        </p:nvSpPr>
        <p:spPr>
          <a:xfrm>
            <a:off x="777240" y="1572768"/>
            <a:ext cx="4572000" cy="320040"/>
          </a:xfrm>
          <a:prstGeom prst="rect">
            <a:avLst/>
          </a:prstGeom>
          <a:noFill/>
          <a:ln/>
        </p:spPr>
        <p:txBody>
          <a:bodyPr wrap="square"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  IN SCOPE</a:t>
            </a:r>
            <a:endParaRPr lang="en-US" sz="1600" dirty="0"/>
          </a:p>
        </p:txBody>
      </p:sp>
      <p:sp>
        <p:nvSpPr>
          <p:cNvPr id="6" name="Text 4"/>
          <p:cNvSpPr/>
          <p:nvPr/>
        </p:nvSpPr>
        <p:spPr>
          <a:xfrm>
            <a:off x="777240" y="1965960"/>
            <a:ext cx="4800600" cy="3840480"/>
          </a:xfrm>
          <a:prstGeom prst="rect">
            <a:avLst/>
          </a:prstGeom>
          <a:noFill/>
          <a:ln/>
        </p:spPr>
        <p:txBody>
          <a:bodyPr wrap="square" rtlCol="0" anchor="ctr"/>
          <a:lstStyle/>
          <a:p>
            <a:pPr marL="177800" indent="-177800">
              <a:lnSpc>
                <a:spcPct val="115000"/>
              </a:lnSpc>
              <a:spcAft>
                <a:spcPts val="1000"/>
              </a:spcAft>
              <a:buSzPct val="100000"/>
              <a:buChar char="✓"/>
            </a:pPr>
            <a:r>
              <a:rPr lang="en-US" sz="1400" dirty="0">
                <a:solidFill>
                  <a:srgbClr val="17313A"/>
                </a:solidFill>
                <a:latin typeface="Calibri" pitchFamily="34" charset="0"/>
                <a:ea typeface="Calibri" pitchFamily="34" charset="-122"/>
                <a:cs typeface="Calibri" pitchFamily="34" charset="-120"/>
              </a:rPr>
              <a:t>Risk estimation for 4 chronic diseases: diabetes, hypertension, heart failure and stroke</a:t>
            </a:r>
            <a:endParaRPr lang="en-US" sz="1400" dirty="0"/>
          </a:p>
          <a:p>
            <a:pPr marL="177800" indent="-177800">
              <a:lnSpc>
                <a:spcPct val="115000"/>
              </a:lnSpc>
              <a:spcAft>
                <a:spcPts val="1000"/>
              </a:spcAft>
              <a:buSzPct val="100000"/>
              <a:buChar char="✓"/>
            </a:pPr>
            <a:r>
              <a:rPr lang="en-US" sz="1400" dirty="0">
                <a:solidFill>
                  <a:srgbClr val="17313A"/>
                </a:solidFill>
                <a:latin typeface="Calibri" pitchFamily="34" charset="0"/>
                <a:ea typeface="Calibri" pitchFamily="34" charset="-122"/>
                <a:cs typeface="Calibri" pitchFamily="34" charset="-120"/>
              </a:rPr>
              <a:t>Use of the CDC BRFSS 2015 dataset (250,000+ adult records, 21 indicators) as the training source</a:t>
            </a:r>
            <a:endParaRPr lang="en-US" sz="1400" dirty="0"/>
          </a:p>
          <a:p>
            <a:pPr marL="177800" indent="-177800">
              <a:lnSpc>
                <a:spcPct val="115000"/>
              </a:lnSpc>
              <a:spcAft>
                <a:spcPts val="1000"/>
              </a:spcAft>
              <a:buSzPct val="100000"/>
              <a:buChar char="✓"/>
            </a:pPr>
            <a:r>
              <a:rPr lang="en-US" sz="1400" dirty="0">
                <a:solidFill>
                  <a:srgbClr val="17313A"/>
                </a:solidFill>
                <a:latin typeface="Calibri" pitchFamily="34" charset="0"/>
                <a:ea typeface="Calibri" pitchFamily="34" charset="-122"/>
                <a:cs typeface="Calibri" pitchFamily="34" charset="-120"/>
              </a:rPr>
              <a:t>Medical-history / demographic inputs plus two live vitals (heart rate, SpO2)</a:t>
            </a:r>
            <a:endParaRPr lang="en-US" sz="1400" dirty="0"/>
          </a:p>
          <a:p>
            <a:pPr marL="177800" indent="-177800">
              <a:lnSpc>
                <a:spcPct val="115000"/>
              </a:lnSpc>
              <a:spcAft>
                <a:spcPts val="1000"/>
              </a:spcAft>
              <a:buSzPct val="100000"/>
              <a:buChar char="✓"/>
            </a:pPr>
            <a:r>
              <a:rPr lang="en-US" sz="1400" dirty="0">
                <a:solidFill>
                  <a:srgbClr val="17313A"/>
                </a:solidFill>
                <a:latin typeface="Calibri" pitchFamily="34" charset="0"/>
                <a:ea typeface="Calibri" pitchFamily="34" charset="-122"/>
                <a:cs typeface="Calibri" pitchFamily="34" charset="-120"/>
              </a:rPr>
              <a:t>One specialist XGBoost model trained per disease</a:t>
            </a:r>
            <a:endParaRPr lang="en-US" sz="1400" dirty="0"/>
          </a:p>
          <a:p>
            <a:pPr marL="177800" indent="-177800">
              <a:lnSpc>
                <a:spcPct val="115000"/>
              </a:lnSpc>
              <a:spcAft>
                <a:spcPts val="1000"/>
              </a:spcAft>
              <a:buSzPct val="100000"/>
              <a:buChar char="✓"/>
            </a:pPr>
            <a:r>
              <a:rPr lang="en-US" sz="1400" dirty="0">
                <a:solidFill>
                  <a:srgbClr val="17313A"/>
                </a:solidFill>
                <a:latin typeface="Calibri" pitchFamily="34" charset="0"/>
                <a:ea typeface="Calibri" pitchFamily="34" charset="-122"/>
                <a:cs typeface="Calibri" pitchFamily="34" charset="-120"/>
              </a:rPr>
              <a:t>A rule-based recommendation layer translating risk into text-based next steps</a:t>
            </a:r>
            <a:endParaRPr lang="en-US" sz="1400" dirty="0"/>
          </a:p>
          <a:p>
            <a:pPr marL="177800" indent="-177800">
              <a:lnSpc>
                <a:spcPct val="115000"/>
              </a:lnSpc>
              <a:spcAft>
                <a:spcPts val="1000"/>
              </a:spcAft>
              <a:buSzPct val="100000"/>
              <a:buChar char="✓"/>
            </a:pPr>
            <a:r>
              <a:rPr lang="en-US" sz="1400" dirty="0">
                <a:solidFill>
                  <a:srgbClr val="17313A"/>
                </a:solidFill>
                <a:latin typeface="Calibri" pitchFamily="34" charset="0"/>
                <a:ea typeface="Calibri" pitchFamily="34" charset="-122"/>
                <a:cs typeface="Calibri" pitchFamily="34" charset="-120"/>
              </a:rPr>
              <a:t>A Gradio-based, web interface for capturing data and viewing results</a:t>
            </a:r>
            <a:endParaRPr lang="en-US" sz="1400" dirty="0"/>
          </a:p>
        </p:txBody>
      </p:sp>
      <p:sp>
        <p:nvSpPr>
          <p:cNvPr id="7" name="Shape 5"/>
          <p:cNvSpPr/>
          <p:nvPr/>
        </p:nvSpPr>
        <p:spPr>
          <a:xfrm>
            <a:off x="6080760" y="1371600"/>
            <a:ext cx="5650992" cy="4572000"/>
          </a:xfrm>
          <a:prstGeom prst="roundRect">
            <a:avLst>
              <a:gd name="adj" fmla="val 2000"/>
            </a:avLst>
          </a:prstGeom>
          <a:solidFill>
            <a:srgbClr val="0B3D4C"/>
          </a:solidFill>
          <a:ln/>
        </p:spPr>
      </p:sp>
      <p:sp>
        <p:nvSpPr>
          <p:cNvPr id="8" name="Text 6"/>
          <p:cNvSpPr/>
          <p:nvPr/>
        </p:nvSpPr>
        <p:spPr>
          <a:xfrm>
            <a:off x="6400800" y="1572768"/>
            <a:ext cx="4572000" cy="320040"/>
          </a:xfrm>
          <a:prstGeom prst="rect">
            <a:avLst/>
          </a:prstGeom>
          <a:noFill/>
          <a:ln/>
        </p:spPr>
        <p:txBody>
          <a:bodyPr wrap="square" rtlCol="0" anchor="ctr"/>
          <a:lstStyle/>
          <a:p>
            <a:pPr marL="0" indent="0">
              <a:buNone/>
            </a:pPr>
            <a:r>
              <a:rPr lang="en-US" sz="1600" b="1" dirty="0">
                <a:solidFill>
                  <a:srgbClr val="E15554"/>
                </a:solidFill>
                <a:latin typeface="Calibri" pitchFamily="34" charset="0"/>
                <a:ea typeface="Calibri" pitchFamily="34" charset="-122"/>
                <a:cs typeface="Calibri" pitchFamily="34" charset="-120"/>
              </a:rPr>
              <a:t>✕  OUT OF SCOPE</a:t>
            </a:r>
            <a:endParaRPr lang="en-US" sz="1600" dirty="0"/>
          </a:p>
        </p:txBody>
      </p:sp>
      <p:sp>
        <p:nvSpPr>
          <p:cNvPr id="9" name="Text 7"/>
          <p:cNvSpPr/>
          <p:nvPr/>
        </p:nvSpPr>
        <p:spPr>
          <a:xfrm>
            <a:off x="6400800" y="1965960"/>
            <a:ext cx="5120640" cy="3319272"/>
          </a:xfrm>
          <a:prstGeom prst="rect">
            <a:avLst/>
          </a:prstGeom>
          <a:noFill/>
          <a:ln/>
        </p:spPr>
        <p:txBody>
          <a:bodyPr wrap="square" rtlCol="0" anchor="ctr"/>
          <a:lstStyle/>
          <a:p>
            <a:pPr marL="177800" indent="-177800">
              <a:lnSpc>
                <a:spcPct val="11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Clinical diagnosis: the system produces screening risk signals, not confirmed diagnoses</a:t>
            </a:r>
            <a:endParaRPr lang="en-US" sz="1400" dirty="0"/>
          </a:p>
          <a:p>
            <a:pPr marL="177800" indent="-177800">
              <a:lnSpc>
                <a:spcPct val="11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Direct integration with hospital Electronic Health Record (EHR) systems</a:t>
            </a:r>
            <a:endParaRPr lang="en-US" sz="1400" dirty="0"/>
          </a:p>
          <a:p>
            <a:pPr marL="177800" indent="-177800">
              <a:lnSpc>
                <a:spcPct val="11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Live streaming from wearable / IoT vital-sign devices (vitals are entered manually in this version)</a:t>
            </a:r>
            <a:endParaRPr lang="en-US" sz="1400" dirty="0"/>
          </a:p>
          <a:p>
            <a:pPr marL="177800" indent="-177800">
              <a:lnSpc>
                <a:spcPct val="11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Populations based on the BRFSS 2015 sample dataset</a:t>
            </a:r>
            <a:endParaRPr lang="en-US" sz="1400" dirty="0"/>
          </a:p>
          <a:p>
            <a:pPr marL="177800" indent="-177800">
              <a:lnSpc>
                <a:spcPct val="11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The current deployment is a web application only</a:t>
            </a:r>
            <a:endParaRPr lang="en-US" sz="1400" dirty="0"/>
          </a:p>
          <a:p>
            <a:pPr marL="177800" indent="-177800">
              <a:lnSpc>
                <a:spcPct val="11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Regulatory certification as a medical device</a:t>
            </a:r>
            <a:endParaRPr lang="en-US" sz="1400" dirty="0"/>
          </a:p>
        </p:txBody>
      </p:sp>
      <p:sp>
        <p:nvSpPr>
          <p:cNvPr id="10" name="Text 8"/>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Scope of the System</a:t>
            </a:r>
            <a:endParaRPr lang="en-US" sz="1000" dirty="0"/>
          </a:p>
        </p:txBody>
      </p:sp>
      <p:sp>
        <p:nvSpPr>
          <p:cNvPr id="11" name="Text 9"/>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1C79551-A7B5-4F89-92AC-B7187F2B018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0736FF-2F27-54A7-85A2-ACF23E58565F}"/>
              </a:ext>
            </a:extLst>
          </p:cNvPr>
          <p:cNvSpPr/>
          <p:nvPr/>
        </p:nvSpPr>
        <p:spPr>
          <a:xfrm>
            <a:off x="457200" y="320040"/>
            <a:ext cx="9144000" cy="292608"/>
          </a:xfrm>
          <a:prstGeom prst="rect">
            <a:avLst/>
          </a:prstGeom>
          <a:noFill/>
          <a:ln/>
        </p:spPr>
        <p:txBody>
          <a:bodyPr wrap="square" rtlCol="0" anchor="ctr"/>
          <a:lstStyle/>
          <a:p>
            <a:pPr marL="0" indent="0" algn="ctr">
              <a:buNone/>
            </a:pPr>
            <a:r>
              <a:rPr lang="en-US" sz="2000" b="1" kern="0" spc="200" dirty="0">
                <a:solidFill>
                  <a:srgbClr val="02C39A"/>
                </a:solidFill>
                <a:latin typeface="Calibri" pitchFamily="34" charset="0"/>
                <a:ea typeface="Calibri" pitchFamily="34" charset="-122"/>
                <a:cs typeface="Calibri" pitchFamily="34" charset="-120"/>
              </a:rPr>
              <a:t>SCOPE</a:t>
            </a:r>
            <a:endParaRPr lang="en-US" sz="2000" dirty="0"/>
          </a:p>
        </p:txBody>
      </p:sp>
      <p:sp>
        <p:nvSpPr>
          <p:cNvPr id="3" name="Text 1">
            <a:extLst>
              <a:ext uri="{FF2B5EF4-FFF2-40B4-BE49-F238E27FC236}">
                <a16:creationId xmlns:a16="http://schemas.microsoft.com/office/drawing/2014/main" id="{5C1EEEE8-608D-FBA0-3ECD-6D8285024F79}"/>
              </a:ext>
            </a:extLst>
          </p:cNvPr>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Scope of the System</a:t>
            </a:r>
            <a:endParaRPr lang="en-US" sz="2800" dirty="0"/>
          </a:p>
        </p:txBody>
      </p:sp>
      <p:sp>
        <p:nvSpPr>
          <p:cNvPr id="4" name="Shape 2">
            <a:extLst>
              <a:ext uri="{FF2B5EF4-FFF2-40B4-BE49-F238E27FC236}">
                <a16:creationId xmlns:a16="http://schemas.microsoft.com/office/drawing/2014/main" id="{A9278565-3AAE-FA6F-836F-6A90B753DCF4}"/>
              </a:ext>
            </a:extLst>
          </p:cNvPr>
          <p:cNvSpPr/>
          <p:nvPr/>
        </p:nvSpPr>
        <p:spPr>
          <a:xfrm>
            <a:off x="457200" y="1349156"/>
            <a:ext cx="5394960" cy="4572000"/>
          </a:xfrm>
          <a:prstGeom prst="roundRect">
            <a:avLst>
              <a:gd name="adj" fmla="val 2000"/>
            </a:avLst>
          </a:prstGeom>
          <a:solidFill>
            <a:srgbClr val="EAF6F7"/>
          </a:solidFill>
          <a:ln/>
        </p:spPr>
      </p:sp>
      <p:sp>
        <p:nvSpPr>
          <p:cNvPr id="5" name="Text 3">
            <a:extLst>
              <a:ext uri="{FF2B5EF4-FFF2-40B4-BE49-F238E27FC236}">
                <a16:creationId xmlns:a16="http://schemas.microsoft.com/office/drawing/2014/main" id="{E4A135D5-F16B-6A0F-562B-E9CFCAC4056A}"/>
              </a:ext>
            </a:extLst>
          </p:cNvPr>
          <p:cNvSpPr/>
          <p:nvPr/>
        </p:nvSpPr>
        <p:spPr>
          <a:xfrm>
            <a:off x="777240" y="1443920"/>
            <a:ext cx="4572000" cy="320040"/>
          </a:xfrm>
          <a:prstGeom prst="rect">
            <a:avLst/>
          </a:prstGeom>
          <a:noFill/>
          <a:ln/>
        </p:spPr>
        <p:txBody>
          <a:bodyPr wrap="square"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  Viable users of the application</a:t>
            </a:r>
            <a:endParaRPr lang="en-US" sz="1600" dirty="0"/>
          </a:p>
        </p:txBody>
      </p:sp>
      <p:sp>
        <p:nvSpPr>
          <p:cNvPr id="6" name="Text 4">
            <a:extLst>
              <a:ext uri="{FF2B5EF4-FFF2-40B4-BE49-F238E27FC236}">
                <a16:creationId xmlns:a16="http://schemas.microsoft.com/office/drawing/2014/main" id="{883CC0D0-3532-E8B7-2D2B-097BDB18EF31}"/>
              </a:ext>
            </a:extLst>
          </p:cNvPr>
          <p:cNvSpPr/>
          <p:nvPr/>
        </p:nvSpPr>
        <p:spPr>
          <a:xfrm>
            <a:off x="777240" y="1763959"/>
            <a:ext cx="4800600" cy="4121451"/>
          </a:xfrm>
          <a:prstGeom prst="rect">
            <a:avLst/>
          </a:prstGeom>
          <a:noFill/>
          <a:ln/>
        </p:spPr>
        <p:txBody>
          <a:bodyPr wrap="square" rtlCol="0" anchor="ctr"/>
          <a:lstStyle/>
          <a:p>
            <a:pPr marL="285750" indent="-285750">
              <a:lnSpc>
                <a:spcPct val="115000"/>
              </a:lnSpc>
              <a:spcAft>
                <a:spcPts val="1000"/>
              </a:spcAft>
              <a:buSzPct val="100000"/>
              <a:buFont typeface="Arial" panose="020B0604020202020204" pitchFamily="34" charset="0"/>
              <a:buChar char="•"/>
            </a:pPr>
            <a:r>
              <a:rPr lang="en-US" sz="1600" b="1" dirty="0"/>
              <a:t>Community health workers / CHPS compound staff in Ghana: </a:t>
            </a:r>
            <a:r>
              <a:rPr lang="en-US" sz="1600" dirty="0"/>
              <a:t>the scales are already localized to Ghanaian education tiers (Primary/JHS/SHS/Tertiary), suggesting this was designed with that context in mind. A low-cost screening aid at the community level could genuinely help flag patients for referral where lab access is limited. </a:t>
            </a:r>
          </a:p>
          <a:p>
            <a:pPr marL="285750" indent="-285750">
              <a:lnSpc>
                <a:spcPct val="115000"/>
              </a:lnSpc>
              <a:spcAft>
                <a:spcPts val="1000"/>
              </a:spcAft>
              <a:buSzPct val="100000"/>
              <a:buFont typeface="Arial" panose="020B0604020202020204" pitchFamily="34" charset="0"/>
              <a:buChar char="•"/>
            </a:pPr>
            <a:r>
              <a:rPr lang="en-US" sz="1600" b="1" dirty="0"/>
              <a:t>Primary healthcare professionals </a:t>
            </a:r>
            <a:r>
              <a:rPr lang="en-US" sz="1600" dirty="0"/>
              <a:t>as a quick pre-visit screening aid to prioritize which patients need labs (HbA1c, lipid panel) or specialist referral, a decision-support tool</a:t>
            </a:r>
          </a:p>
        </p:txBody>
      </p:sp>
      <p:sp>
        <p:nvSpPr>
          <p:cNvPr id="7" name="Shape 5">
            <a:extLst>
              <a:ext uri="{FF2B5EF4-FFF2-40B4-BE49-F238E27FC236}">
                <a16:creationId xmlns:a16="http://schemas.microsoft.com/office/drawing/2014/main" id="{5687542E-9EB2-BD7A-945A-0B0B1DA116E1}"/>
              </a:ext>
            </a:extLst>
          </p:cNvPr>
          <p:cNvSpPr/>
          <p:nvPr/>
        </p:nvSpPr>
        <p:spPr>
          <a:xfrm>
            <a:off x="6080760" y="1371600"/>
            <a:ext cx="5650992" cy="4572000"/>
          </a:xfrm>
          <a:prstGeom prst="roundRect">
            <a:avLst>
              <a:gd name="adj" fmla="val 2000"/>
            </a:avLst>
          </a:prstGeom>
          <a:solidFill>
            <a:srgbClr val="0B3D4C"/>
          </a:solidFill>
          <a:ln/>
        </p:spPr>
      </p:sp>
      <p:sp>
        <p:nvSpPr>
          <p:cNvPr id="9" name="Text 7">
            <a:extLst>
              <a:ext uri="{FF2B5EF4-FFF2-40B4-BE49-F238E27FC236}">
                <a16:creationId xmlns:a16="http://schemas.microsoft.com/office/drawing/2014/main" id="{D73CC27D-FD26-4D78-88F9-20440D56C667}"/>
              </a:ext>
            </a:extLst>
          </p:cNvPr>
          <p:cNvSpPr/>
          <p:nvPr/>
        </p:nvSpPr>
        <p:spPr>
          <a:xfrm>
            <a:off x="6400800" y="1965960"/>
            <a:ext cx="5120640" cy="3262745"/>
          </a:xfrm>
          <a:prstGeom prst="rect">
            <a:avLst/>
          </a:prstGeom>
          <a:noFill/>
          <a:ln/>
        </p:spPr>
        <p:txBody>
          <a:bodyPr wrap="square" rtlCol="0" anchor="ctr"/>
          <a:lstStyle/>
          <a:p>
            <a:pPr marL="285750" indent="-285750">
              <a:lnSpc>
                <a:spcPct val="115000"/>
              </a:lnSpc>
              <a:spcAft>
                <a:spcPts val="1000"/>
              </a:spcAft>
              <a:buSzPct val="100000"/>
              <a:buFont typeface="Arial" panose="020B0604020202020204" pitchFamily="34" charset="0"/>
              <a:buChar char="•"/>
            </a:pPr>
            <a:r>
              <a:rPr lang="en-US" sz="1600" b="1" dirty="0">
                <a:solidFill>
                  <a:schemeClr val="bg1"/>
                </a:solidFill>
              </a:rPr>
              <a:t>Corporate/occupational wellness programs</a:t>
            </a:r>
            <a:r>
              <a:rPr lang="en-US" sz="1600" dirty="0">
                <a:solidFill>
                  <a:schemeClr val="bg1"/>
                </a:solidFill>
              </a:rPr>
              <a:t> running periodic health screenings for staff, where BMI/lifestyle/vitals data is already being collected </a:t>
            </a:r>
          </a:p>
          <a:p>
            <a:pPr marL="285750" indent="-285750">
              <a:lnSpc>
                <a:spcPct val="115000"/>
              </a:lnSpc>
              <a:spcAft>
                <a:spcPts val="1000"/>
              </a:spcAft>
              <a:buSzPct val="100000"/>
              <a:buFont typeface="Arial" panose="020B0604020202020204" pitchFamily="34" charset="0"/>
              <a:buChar char="•"/>
            </a:pPr>
            <a:r>
              <a:rPr lang="en-US" sz="1600" b="1" dirty="0">
                <a:solidFill>
                  <a:schemeClr val="bg1"/>
                </a:solidFill>
              </a:rPr>
              <a:t>Public health researchers</a:t>
            </a:r>
            <a:r>
              <a:rPr lang="en-US" sz="1600" dirty="0">
                <a:solidFill>
                  <a:schemeClr val="bg1"/>
                </a:solidFill>
              </a:rPr>
              <a:t> studying disease risk patterns across survey data, using it as an exploratory tool rather than for individual diagnosis </a:t>
            </a:r>
          </a:p>
          <a:p>
            <a:pPr marL="285750" indent="-285750">
              <a:lnSpc>
                <a:spcPct val="115000"/>
              </a:lnSpc>
              <a:spcAft>
                <a:spcPts val="1000"/>
              </a:spcAft>
              <a:buSzPct val="100000"/>
              <a:buFont typeface="Arial" panose="020B0604020202020204" pitchFamily="34" charset="0"/>
              <a:buChar char="•"/>
            </a:pPr>
            <a:r>
              <a:rPr lang="en-US" sz="1600" b="1" dirty="0">
                <a:solidFill>
                  <a:schemeClr val="bg1"/>
                </a:solidFill>
              </a:rPr>
              <a:t>Telehealth/remote monitoring platforms</a:t>
            </a:r>
            <a:r>
              <a:rPr lang="en-US" sz="1600" dirty="0">
                <a:solidFill>
                  <a:schemeClr val="bg1"/>
                </a:solidFill>
              </a:rPr>
              <a:t> that already ingest real-time vitals (heart rate, SpO2 from wearables) and want a lightweight layer to combine that stream with static risk factors</a:t>
            </a:r>
          </a:p>
        </p:txBody>
      </p:sp>
      <p:sp>
        <p:nvSpPr>
          <p:cNvPr id="10" name="Text 8">
            <a:extLst>
              <a:ext uri="{FF2B5EF4-FFF2-40B4-BE49-F238E27FC236}">
                <a16:creationId xmlns:a16="http://schemas.microsoft.com/office/drawing/2014/main" id="{BF105F1F-2DEB-1E29-D1A9-A881DEEAFC72}"/>
              </a:ext>
            </a:extLst>
          </p:cNvPr>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Scope of the System</a:t>
            </a:r>
            <a:endParaRPr lang="en-US" sz="1000" dirty="0"/>
          </a:p>
        </p:txBody>
      </p:sp>
      <p:sp>
        <p:nvSpPr>
          <p:cNvPr id="11" name="Text 9">
            <a:extLst>
              <a:ext uri="{FF2B5EF4-FFF2-40B4-BE49-F238E27FC236}">
                <a16:creationId xmlns:a16="http://schemas.microsoft.com/office/drawing/2014/main" id="{E8A8E80E-B2BE-01C9-7901-39B219BC55D7}"/>
              </a:ext>
            </a:extLst>
          </p:cNvPr>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5</a:t>
            </a:r>
            <a:endParaRPr lang="en-US" sz="1000" dirty="0"/>
          </a:p>
        </p:txBody>
      </p:sp>
      <p:sp>
        <p:nvSpPr>
          <p:cNvPr id="13" name="Text 3">
            <a:extLst>
              <a:ext uri="{FF2B5EF4-FFF2-40B4-BE49-F238E27FC236}">
                <a16:creationId xmlns:a16="http://schemas.microsoft.com/office/drawing/2014/main" id="{BCE0035A-6686-8273-68F3-795FFE170A94}"/>
              </a:ext>
            </a:extLst>
          </p:cNvPr>
          <p:cNvSpPr/>
          <p:nvPr/>
        </p:nvSpPr>
        <p:spPr>
          <a:xfrm>
            <a:off x="6400800" y="1540764"/>
            <a:ext cx="4572000" cy="320040"/>
          </a:xfrm>
          <a:prstGeom prst="rect">
            <a:avLst/>
          </a:prstGeom>
          <a:noFill/>
          <a:ln/>
        </p:spPr>
        <p:txBody>
          <a:bodyPr wrap="square"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  Viable users of the application</a:t>
            </a:r>
            <a:endParaRPr lang="en-US" sz="1600" dirty="0"/>
          </a:p>
        </p:txBody>
      </p:sp>
    </p:spTree>
    <p:extLst>
      <p:ext uri="{BB962C8B-B14F-4D97-AF65-F5344CB8AC3E}">
        <p14:creationId xmlns:p14="http://schemas.microsoft.com/office/powerpoint/2010/main" val="998018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METHODOLOGY</a:t>
            </a:r>
            <a:endParaRPr lang="en-US" sz="16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How the System Was Built</a:t>
            </a:r>
            <a:endParaRPr lang="en-US" sz="2800" dirty="0"/>
          </a:p>
        </p:txBody>
      </p:sp>
      <p:sp>
        <p:nvSpPr>
          <p:cNvPr id="4" name="Shape 2"/>
          <p:cNvSpPr/>
          <p:nvPr/>
        </p:nvSpPr>
        <p:spPr>
          <a:xfrm>
            <a:off x="457200" y="1417320"/>
            <a:ext cx="3639312" cy="2331720"/>
          </a:xfrm>
          <a:prstGeom prst="roundRect">
            <a:avLst>
              <a:gd name="adj" fmla="val 3922"/>
            </a:avLst>
          </a:prstGeom>
          <a:solidFill>
            <a:srgbClr val="EAF6F7"/>
          </a:solidFill>
          <a:ln/>
        </p:spPr>
      </p:sp>
      <p:sp>
        <p:nvSpPr>
          <p:cNvPr id="5" name="Text 3"/>
          <p:cNvSpPr/>
          <p:nvPr/>
        </p:nvSpPr>
        <p:spPr>
          <a:xfrm>
            <a:off x="640080" y="1554480"/>
            <a:ext cx="640080" cy="548640"/>
          </a:xfrm>
          <a:prstGeom prst="rect">
            <a:avLst/>
          </a:prstGeom>
          <a:noFill/>
          <a:ln/>
        </p:spPr>
        <p:txBody>
          <a:bodyPr wrap="square" rtlCol="0" anchor="ctr"/>
          <a:lstStyle/>
          <a:p>
            <a:pPr marL="0" indent="0">
              <a:buNone/>
            </a:pPr>
            <a:r>
              <a:rPr lang="en-US" sz="2600" b="1" dirty="0">
                <a:solidFill>
                  <a:srgbClr val="02C39A"/>
                </a:solidFill>
                <a:latin typeface="Calibri" pitchFamily="34" charset="0"/>
                <a:ea typeface="Calibri" pitchFamily="34" charset="-122"/>
                <a:cs typeface="Calibri" pitchFamily="34" charset="-120"/>
              </a:rPr>
              <a:t>1</a:t>
            </a:r>
            <a:endParaRPr lang="en-US" sz="2600" dirty="0"/>
          </a:p>
        </p:txBody>
      </p:sp>
      <p:sp>
        <p:nvSpPr>
          <p:cNvPr id="6" name="Text 4"/>
          <p:cNvSpPr/>
          <p:nvPr/>
        </p:nvSpPr>
        <p:spPr>
          <a:xfrm>
            <a:off x="960120" y="1635252"/>
            <a:ext cx="2727960" cy="365760"/>
          </a:xfrm>
          <a:prstGeom prst="rect">
            <a:avLst/>
          </a:prstGeom>
          <a:noFill/>
          <a:ln/>
        </p:spPr>
        <p:txBody>
          <a:bodyPr wrap="square" rtlCol="0" anchor="ctr"/>
          <a:lstStyle/>
          <a:p>
            <a:pPr marL="0" indent="0">
              <a:buNone/>
            </a:pPr>
            <a:r>
              <a:rPr lang="en-US" sz="1600" b="1" dirty="0">
                <a:solidFill>
                  <a:srgbClr val="0B3D4C"/>
                </a:solidFill>
                <a:latin typeface="Calibri" pitchFamily="34" charset="0"/>
                <a:ea typeface="Calibri" pitchFamily="34" charset="-122"/>
                <a:cs typeface="Calibri" pitchFamily="34" charset="-120"/>
              </a:rPr>
              <a:t>Data Acquisition</a:t>
            </a:r>
            <a:endParaRPr lang="en-US" sz="1600" dirty="0"/>
          </a:p>
        </p:txBody>
      </p:sp>
      <p:sp>
        <p:nvSpPr>
          <p:cNvPr id="7" name="Text 5"/>
          <p:cNvSpPr/>
          <p:nvPr/>
        </p:nvSpPr>
        <p:spPr>
          <a:xfrm>
            <a:off x="640080" y="2001012"/>
            <a:ext cx="3273552" cy="1638300"/>
          </a:xfrm>
          <a:prstGeom prst="rect">
            <a:avLst/>
          </a:prstGeom>
          <a:noFill/>
          <a:ln/>
        </p:spPr>
        <p:txBody>
          <a:bodyPr wrap="square" rtlCol="0" anchor="ctr"/>
          <a:lstStyle/>
          <a:p>
            <a:pPr marL="0" indent="0">
              <a:lnSpc>
                <a:spcPct val="115000"/>
              </a:lnSpc>
              <a:buNone/>
            </a:pPr>
            <a:r>
              <a:rPr lang="en-US" sz="1600" dirty="0">
                <a:solidFill>
                  <a:srgbClr val="17313A"/>
                </a:solidFill>
                <a:latin typeface="Calibri" pitchFamily="34" charset="0"/>
                <a:ea typeface="Calibri" pitchFamily="34" charset="-122"/>
                <a:cs typeface="Calibri" pitchFamily="34" charset="-120"/>
              </a:rPr>
              <a:t>Download the CDC BRFSS 2015 Health Indicators dataset from Kaggle, so the pipeline is fully reproducible from a single script.</a:t>
            </a:r>
            <a:endParaRPr lang="en-US" sz="1600" dirty="0"/>
          </a:p>
        </p:txBody>
      </p:sp>
      <p:sp>
        <p:nvSpPr>
          <p:cNvPr id="8" name="Shape 6"/>
          <p:cNvSpPr/>
          <p:nvPr/>
        </p:nvSpPr>
        <p:spPr>
          <a:xfrm>
            <a:off x="4279392" y="1417320"/>
            <a:ext cx="3639312" cy="2331720"/>
          </a:xfrm>
          <a:prstGeom prst="roundRect">
            <a:avLst>
              <a:gd name="adj" fmla="val 3922"/>
            </a:avLst>
          </a:prstGeom>
          <a:solidFill>
            <a:srgbClr val="EAF6F7"/>
          </a:solidFill>
          <a:ln/>
        </p:spPr>
      </p:sp>
      <p:sp>
        <p:nvSpPr>
          <p:cNvPr id="9" name="Text 7"/>
          <p:cNvSpPr/>
          <p:nvPr/>
        </p:nvSpPr>
        <p:spPr>
          <a:xfrm>
            <a:off x="4462272" y="1554480"/>
            <a:ext cx="640080" cy="548640"/>
          </a:xfrm>
          <a:prstGeom prst="rect">
            <a:avLst/>
          </a:prstGeom>
          <a:noFill/>
          <a:ln/>
        </p:spPr>
        <p:txBody>
          <a:bodyPr wrap="square" rtlCol="0" anchor="ctr"/>
          <a:lstStyle/>
          <a:p>
            <a:pPr marL="0" indent="0">
              <a:buNone/>
            </a:pPr>
            <a:r>
              <a:rPr lang="en-US" sz="2600" b="1" dirty="0">
                <a:solidFill>
                  <a:srgbClr val="02C39A"/>
                </a:solidFill>
                <a:latin typeface="Calibri" pitchFamily="34" charset="0"/>
                <a:ea typeface="Calibri" pitchFamily="34" charset="-122"/>
                <a:cs typeface="Calibri" pitchFamily="34" charset="-120"/>
              </a:rPr>
              <a:t>2</a:t>
            </a:r>
            <a:endParaRPr lang="en-US" sz="2600" dirty="0"/>
          </a:p>
        </p:txBody>
      </p:sp>
      <p:sp>
        <p:nvSpPr>
          <p:cNvPr id="10" name="Text 8"/>
          <p:cNvSpPr/>
          <p:nvPr/>
        </p:nvSpPr>
        <p:spPr>
          <a:xfrm>
            <a:off x="4782312" y="1645920"/>
            <a:ext cx="2307338" cy="355092"/>
          </a:xfrm>
          <a:prstGeom prst="rect">
            <a:avLst/>
          </a:prstGeom>
          <a:noFill/>
          <a:ln/>
        </p:spPr>
        <p:txBody>
          <a:bodyPr wrap="square" rtlCol="0" anchor="ctr"/>
          <a:lstStyle/>
          <a:p>
            <a:pPr marL="0" indent="0">
              <a:buNone/>
            </a:pPr>
            <a:r>
              <a:rPr lang="en-US" sz="1600" b="1" dirty="0">
                <a:solidFill>
                  <a:srgbClr val="0B3D4C"/>
                </a:solidFill>
                <a:latin typeface="Calibri" pitchFamily="34" charset="0"/>
                <a:ea typeface="Calibri" pitchFamily="34" charset="-122"/>
                <a:cs typeface="Calibri" pitchFamily="34" charset="-120"/>
              </a:rPr>
              <a:t>Preprocessing</a:t>
            </a:r>
            <a:endParaRPr lang="en-US" sz="1600" dirty="0"/>
          </a:p>
        </p:txBody>
      </p:sp>
      <p:sp>
        <p:nvSpPr>
          <p:cNvPr id="11" name="Text 9"/>
          <p:cNvSpPr/>
          <p:nvPr/>
        </p:nvSpPr>
        <p:spPr>
          <a:xfrm>
            <a:off x="4462272" y="2001012"/>
            <a:ext cx="3273552" cy="1638300"/>
          </a:xfrm>
          <a:prstGeom prst="rect">
            <a:avLst/>
          </a:prstGeom>
          <a:noFill/>
          <a:ln/>
        </p:spPr>
        <p:txBody>
          <a:bodyPr wrap="square" rtlCol="0" anchor="ctr"/>
          <a:lstStyle/>
          <a:p>
            <a:pPr marL="0" indent="0">
              <a:lnSpc>
                <a:spcPct val="115000"/>
              </a:lnSpc>
              <a:buNone/>
            </a:pPr>
            <a:r>
              <a:rPr lang="en-US" sz="1600" dirty="0">
                <a:solidFill>
                  <a:srgbClr val="17313A"/>
                </a:solidFill>
                <a:latin typeface="Calibri" pitchFamily="34" charset="0"/>
                <a:ea typeface="Calibri" pitchFamily="34" charset="-122"/>
                <a:cs typeface="Calibri" pitchFamily="34" charset="-120"/>
              </a:rPr>
              <a:t>Load the data, select the 15 features relevant to the five diseases, and apply StandardScaler so no single feature (e.g. BMI) dominates.</a:t>
            </a:r>
            <a:endParaRPr lang="en-US" sz="1600" dirty="0"/>
          </a:p>
        </p:txBody>
      </p:sp>
      <p:sp>
        <p:nvSpPr>
          <p:cNvPr id="12" name="Shape 10"/>
          <p:cNvSpPr/>
          <p:nvPr/>
        </p:nvSpPr>
        <p:spPr>
          <a:xfrm>
            <a:off x="8101584" y="1417320"/>
            <a:ext cx="3639312" cy="2331720"/>
          </a:xfrm>
          <a:prstGeom prst="roundRect">
            <a:avLst>
              <a:gd name="adj" fmla="val 3922"/>
            </a:avLst>
          </a:prstGeom>
          <a:solidFill>
            <a:srgbClr val="EAF6F7"/>
          </a:solidFill>
          <a:ln/>
        </p:spPr>
      </p:sp>
      <p:sp>
        <p:nvSpPr>
          <p:cNvPr id="13" name="Text 11"/>
          <p:cNvSpPr/>
          <p:nvPr/>
        </p:nvSpPr>
        <p:spPr>
          <a:xfrm>
            <a:off x="8284464" y="1554480"/>
            <a:ext cx="640080" cy="548640"/>
          </a:xfrm>
          <a:prstGeom prst="rect">
            <a:avLst/>
          </a:prstGeom>
          <a:noFill/>
          <a:ln/>
        </p:spPr>
        <p:txBody>
          <a:bodyPr wrap="square" rtlCol="0" anchor="ctr"/>
          <a:lstStyle/>
          <a:p>
            <a:pPr marL="0" indent="0">
              <a:buNone/>
            </a:pPr>
            <a:r>
              <a:rPr lang="en-US" sz="2600" b="1" dirty="0">
                <a:solidFill>
                  <a:srgbClr val="02C39A"/>
                </a:solidFill>
                <a:latin typeface="Calibri" pitchFamily="34" charset="0"/>
                <a:ea typeface="Calibri" pitchFamily="34" charset="-122"/>
                <a:cs typeface="Calibri" pitchFamily="34" charset="-120"/>
              </a:rPr>
              <a:t>3</a:t>
            </a:r>
            <a:endParaRPr lang="en-US" sz="2600" dirty="0"/>
          </a:p>
        </p:txBody>
      </p:sp>
      <p:sp>
        <p:nvSpPr>
          <p:cNvPr id="14" name="Text 12"/>
          <p:cNvSpPr/>
          <p:nvPr/>
        </p:nvSpPr>
        <p:spPr>
          <a:xfrm>
            <a:off x="8604504" y="1635252"/>
            <a:ext cx="1992376" cy="365760"/>
          </a:xfrm>
          <a:prstGeom prst="rect">
            <a:avLst/>
          </a:prstGeom>
          <a:noFill/>
          <a:ln/>
        </p:spPr>
        <p:txBody>
          <a:bodyPr wrap="square" rtlCol="0" anchor="ctr"/>
          <a:lstStyle/>
          <a:p>
            <a:pPr marL="0" indent="0">
              <a:buNone/>
            </a:pPr>
            <a:r>
              <a:rPr lang="en-US" sz="1600" b="1" dirty="0">
                <a:solidFill>
                  <a:srgbClr val="0B3D4C"/>
                </a:solidFill>
                <a:latin typeface="Calibri" pitchFamily="34" charset="0"/>
                <a:ea typeface="Calibri" pitchFamily="34" charset="-122"/>
                <a:cs typeface="Calibri" pitchFamily="34" charset="-120"/>
              </a:rPr>
              <a:t>Train / Test Split</a:t>
            </a:r>
            <a:endParaRPr lang="en-US" sz="1600" dirty="0"/>
          </a:p>
        </p:txBody>
      </p:sp>
      <p:sp>
        <p:nvSpPr>
          <p:cNvPr id="15" name="Text 13"/>
          <p:cNvSpPr/>
          <p:nvPr/>
        </p:nvSpPr>
        <p:spPr>
          <a:xfrm>
            <a:off x="8284464" y="2001012"/>
            <a:ext cx="3273552" cy="1638300"/>
          </a:xfrm>
          <a:prstGeom prst="rect">
            <a:avLst/>
          </a:prstGeom>
          <a:noFill/>
          <a:ln/>
        </p:spPr>
        <p:txBody>
          <a:bodyPr wrap="square" rtlCol="0" anchor="ctr"/>
          <a:lstStyle/>
          <a:p>
            <a:pPr marL="0" indent="0">
              <a:lnSpc>
                <a:spcPct val="115000"/>
              </a:lnSpc>
              <a:buNone/>
            </a:pPr>
            <a:r>
              <a:rPr lang="en-US" sz="1600" dirty="0">
                <a:solidFill>
                  <a:srgbClr val="17313A"/>
                </a:solidFill>
                <a:latin typeface="Calibri" pitchFamily="34" charset="0"/>
                <a:ea typeface="Calibri" pitchFamily="34" charset="-122"/>
                <a:cs typeface="Calibri" pitchFamily="34" charset="-120"/>
              </a:rPr>
              <a:t>Split records 80/20: 80% train the models, the remaining 20% are held back to test performance on unseen patients. This prevents overfitting mainly</a:t>
            </a:r>
            <a:endParaRPr lang="en-US" sz="1600" dirty="0"/>
          </a:p>
        </p:txBody>
      </p:sp>
      <p:sp>
        <p:nvSpPr>
          <p:cNvPr id="16" name="Shape 14"/>
          <p:cNvSpPr/>
          <p:nvPr/>
        </p:nvSpPr>
        <p:spPr>
          <a:xfrm>
            <a:off x="457200" y="3931920"/>
            <a:ext cx="3639312" cy="2331720"/>
          </a:xfrm>
          <a:prstGeom prst="roundRect">
            <a:avLst>
              <a:gd name="adj" fmla="val 3922"/>
            </a:avLst>
          </a:prstGeom>
          <a:solidFill>
            <a:srgbClr val="D3E6E9"/>
          </a:solidFill>
          <a:ln/>
        </p:spPr>
      </p:sp>
      <p:sp>
        <p:nvSpPr>
          <p:cNvPr id="17" name="Text 15"/>
          <p:cNvSpPr/>
          <p:nvPr/>
        </p:nvSpPr>
        <p:spPr>
          <a:xfrm>
            <a:off x="640080" y="4069080"/>
            <a:ext cx="640080" cy="548640"/>
          </a:xfrm>
          <a:prstGeom prst="rect">
            <a:avLst/>
          </a:prstGeom>
          <a:noFill/>
          <a:ln/>
        </p:spPr>
        <p:txBody>
          <a:bodyPr wrap="square" rtlCol="0" anchor="ctr"/>
          <a:lstStyle/>
          <a:p>
            <a:pPr marL="0" indent="0">
              <a:buNone/>
            </a:pPr>
            <a:r>
              <a:rPr lang="en-US" sz="2600" b="1" dirty="0">
                <a:solidFill>
                  <a:srgbClr val="02C39A"/>
                </a:solidFill>
                <a:latin typeface="Calibri" pitchFamily="34" charset="0"/>
                <a:ea typeface="Calibri" pitchFamily="34" charset="-122"/>
                <a:cs typeface="Calibri" pitchFamily="34" charset="-120"/>
              </a:rPr>
              <a:t>4</a:t>
            </a:r>
            <a:endParaRPr lang="en-US" sz="2600" dirty="0"/>
          </a:p>
        </p:txBody>
      </p:sp>
      <p:sp>
        <p:nvSpPr>
          <p:cNvPr id="18" name="Text 16"/>
          <p:cNvSpPr/>
          <p:nvPr/>
        </p:nvSpPr>
        <p:spPr>
          <a:xfrm>
            <a:off x="960120" y="4167632"/>
            <a:ext cx="2953512" cy="365760"/>
          </a:xfrm>
          <a:prstGeom prst="rect">
            <a:avLst/>
          </a:prstGeom>
          <a:noFill/>
          <a:ln/>
        </p:spPr>
        <p:txBody>
          <a:bodyPr wrap="square" rtlCol="0" anchor="ctr"/>
          <a:lstStyle/>
          <a:p>
            <a:pPr marL="0" indent="0">
              <a:buNone/>
            </a:pPr>
            <a:r>
              <a:rPr lang="en-US" sz="1600" b="1" dirty="0">
                <a:solidFill>
                  <a:srgbClr val="0B3D4C"/>
                </a:solidFill>
                <a:latin typeface="Calibri" pitchFamily="34" charset="0"/>
                <a:ea typeface="Calibri" pitchFamily="34" charset="-122"/>
                <a:cs typeface="Calibri" pitchFamily="34" charset="-120"/>
              </a:rPr>
              <a:t>Model Selection</a:t>
            </a:r>
            <a:endParaRPr lang="en-US" sz="1600" dirty="0"/>
          </a:p>
        </p:txBody>
      </p:sp>
      <p:sp>
        <p:nvSpPr>
          <p:cNvPr id="19" name="Text 17"/>
          <p:cNvSpPr/>
          <p:nvPr/>
        </p:nvSpPr>
        <p:spPr>
          <a:xfrm>
            <a:off x="640080" y="4617720"/>
            <a:ext cx="3273552" cy="1536192"/>
          </a:xfrm>
          <a:prstGeom prst="rect">
            <a:avLst/>
          </a:prstGeom>
          <a:noFill/>
          <a:ln/>
        </p:spPr>
        <p:txBody>
          <a:bodyPr wrap="square" rtlCol="0" anchor="ctr"/>
          <a:lstStyle/>
          <a:p>
            <a:pPr marL="0" indent="0">
              <a:lnSpc>
                <a:spcPct val="115000"/>
              </a:lnSpc>
              <a:buNone/>
            </a:pPr>
            <a:r>
              <a:rPr lang="en-US" sz="1600" dirty="0">
                <a:solidFill>
                  <a:srgbClr val="17313A"/>
                </a:solidFill>
                <a:latin typeface="Calibri" pitchFamily="34" charset="0"/>
                <a:ea typeface="Calibri" pitchFamily="34" charset="-122"/>
                <a:cs typeface="Calibri" pitchFamily="34" charset="-120"/>
              </a:rPr>
              <a:t>Compare Logistic Regression, Random Forest, SVM, a Neural Network and XGBoost against the project's needs; select XGBoost.</a:t>
            </a:r>
            <a:endParaRPr lang="en-US" sz="1600" dirty="0"/>
          </a:p>
        </p:txBody>
      </p:sp>
      <p:sp>
        <p:nvSpPr>
          <p:cNvPr id="20" name="Shape 18"/>
          <p:cNvSpPr/>
          <p:nvPr/>
        </p:nvSpPr>
        <p:spPr>
          <a:xfrm>
            <a:off x="4279392" y="3931920"/>
            <a:ext cx="3639312" cy="2331720"/>
          </a:xfrm>
          <a:prstGeom prst="roundRect">
            <a:avLst>
              <a:gd name="adj" fmla="val 3922"/>
            </a:avLst>
          </a:prstGeom>
          <a:solidFill>
            <a:srgbClr val="D3E6E9"/>
          </a:solidFill>
          <a:ln/>
        </p:spPr>
      </p:sp>
      <p:sp>
        <p:nvSpPr>
          <p:cNvPr id="21" name="Text 19"/>
          <p:cNvSpPr/>
          <p:nvPr/>
        </p:nvSpPr>
        <p:spPr>
          <a:xfrm>
            <a:off x="4462272" y="4069080"/>
            <a:ext cx="640080" cy="548640"/>
          </a:xfrm>
          <a:prstGeom prst="rect">
            <a:avLst/>
          </a:prstGeom>
          <a:noFill/>
          <a:ln/>
        </p:spPr>
        <p:txBody>
          <a:bodyPr wrap="square" rtlCol="0" anchor="ctr"/>
          <a:lstStyle/>
          <a:p>
            <a:pPr marL="0" indent="0">
              <a:buNone/>
            </a:pPr>
            <a:r>
              <a:rPr lang="en-US" sz="2600" b="1" dirty="0">
                <a:solidFill>
                  <a:srgbClr val="02C39A"/>
                </a:solidFill>
                <a:latin typeface="Calibri" pitchFamily="34" charset="0"/>
                <a:ea typeface="Calibri" pitchFamily="34" charset="-122"/>
                <a:cs typeface="Calibri" pitchFamily="34" charset="-120"/>
              </a:rPr>
              <a:t>5</a:t>
            </a:r>
            <a:endParaRPr lang="en-US" sz="2600" dirty="0"/>
          </a:p>
        </p:txBody>
      </p:sp>
      <p:sp>
        <p:nvSpPr>
          <p:cNvPr id="22" name="Text 20"/>
          <p:cNvSpPr/>
          <p:nvPr/>
        </p:nvSpPr>
        <p:spPr>
          <a:xfrm>
            <a:off x="4782312" y="4160520"/>
            <a:ext cx="2705608" cy="365760"/>
          </a:xfrm>
          <a:prstGeom prst="rect">
            <a:avLst/>
          </a:prstGeom>
          <a:noFill/>
          <a:ln/>
        </p:spPr>
        <p:txBody>
          <a:bodyPr wrap="square" rtlCol="0" anchor="ctr"/>
          <a:lstStyle/>
          <a:p>
            <a:pPr marL="0" indent="0">
              <a:buNone/>
            </a:pPr>
            <a:r>
              <a:rPr lang="en-US" sz="1600" b="1" dirty="0">
                <a:solidFill>
                  <a:srgbClr val="0B3D4C"/>
                </a:solidFill>
                <a:latin typeface="Calibri" pitchFamily="34" charset="0"/>
                <a:ea typeface="Calibri" pitchFamily="34" charset="-122"/>
                <a:cs typeface="Calibri" pitchFamily="34" charset="-120"/>
              </a:rPr>
              <a:t>Model Training</a:t>
            </a:r>
            <a:endParaRPr lang="en-US" sz="1600" dirty="0"/>
          </a:p>
        </p:txBody>
      </p:sp>
      <p:sp>
        <p:nvSpPr>
          <p:cNvPr id="23" name="Text 21"/>
          <p:cNvSpPr/>
          <p:nvPr/>
        </p:nvSpPr>
        <p:spPr>
          <a:xfrm>
            <a:off x="4462272" y="4617720"/>
            <a:ext cx="3273552" cy="1536192"/>
          </a:xfrm>
          <a:prstGeom prst="rect">
            <a:avLst/>
          </a:prstGeom>
          <a:noFill/>
          <a:ln/>
        </p:spPr>
        <p:txBody>
          <a:bodyPr wrap="square" rtlCol="0" anchor="ctr"/>
          <a:lstStyle/>
          <a:p>
            <a:pPr marL="0" indent="0">
              <a:lnSpc>
                <a:spcPct val="115000"/>
              </a:lnSpc>
              <a:buNone/>
            </a:pPr>
            <a:r>
              <a:rPr lang="en-US" sz="1600" dirty="0">
                <a:solidFill>
                  <a:srgbClr val="17313A"/>
                </a:solidFill>
                <a:latin typeface="Calibri" pitchFamily="34" charset="0"/>
                <a:ea typeface="Calibri" pitchFamily="34" charset="-122"/>
                <a:cs typeface="Calibri" pitchFamily="34" charset="-120"/>
              </a:rPr>
              <a:t>Train five independent XGBoost 'specialist' models in parallel, one per disease, each learning patterns specific to that condition.</a:t>
            </a:r>
            <a:endParaRPr lang="en-US" sz="1600" dirty="0"/>
          </a:p>
        </p:txBody>
      </p:sp>
      <p:sp>
        <p:nvSpPr>
          <p:cNvPr id="24" name="Shape 22"/>
          <p:cNvSpPr/>
          <p:nvPr/>
        </p:nvSpPr>
        <p:spPr>
          <a:xfrm>
            <a:off x="8101584" y="3931920"/>
            <a:ext cx="3639312" cy="2331720"/>
          </a:xfrm>
          <a:prstGeom prst="roundRect">
            <a:avLst>
              <a:gd name="adj" fmla="val 3922"/>
            </a:avLst>
          </a:prstGeom>
          <a:solidFill>
            <a:srgbClr val="D3E6E9"/>
          </a:solidFill>
          <a:ln/>
        </p:spPr>
      </p:sp>
      <p:sp>
        <p:nvSpPr>
          <p:cNvPr id="25" name="Text 23"/>
          <p:cNvSpPr/>
          <p:nvPr/>
        </p:nvSpPr>
        <p:spPr>
          <a:xfrm>
            <a:off x="8284464" y="4069080"/>
            <a:ext cx="640080" cy="548640"/>
          </a:xfrm>
          <a:prstGeom prst="rect">
            <a:avLst/>
          </a:prstGeom>
          <a:noFill/>
          <a:ln/>
        </p:spPr>
        <p:txBody>
          <a:bodyPr wrap="square" rtlCol="0" anchor="ctr"/>
          <a:lstStyle/>
          <a:p>
            <a:pPr marL="0" indent="0">
              <a:buNone/>
            </a:pPr>
            <a:r>
              <a:rPr lang="en-US" sz="2600" b="1" dirty="0">
                <a:solidFill>
                  <a:srgbClr val="02C39A"/>
                </a:solidFill>
                <a:latin typeface="Calibri" pitchFamily="34" charset="0"/>
                <a:ea typeface="Calibri" pitchFamily="34" charset="-122"/>
                <a:cs typeface="Calibri" pitchFamily="34" charset="-120"/>
              </a:rPr>
              <a:t>6</a:t>
            </a:r>
            <a:endParaRPr lang="en-US" sz="2600" dirty="0"/>
          </a:p>
        </p:txBody>
      </p:sp>
      <p:sp>
        <p:nvSpPr>
          <p:cNvPr id="26" name="Text 24"/>
          <p:cNvSpPr/>
          <p:nvPr/>
        </p:nvSpPr>
        <p:spPr>
          <a:xfrm>
            <a:off x="8604504" y="4167632"/>
            <a:ext cx="2627376" cy="358648"/>
          </a:xfrm>
          <a:prstGeom prst="rect">
            <a:avLst/>
          </a:prstGeom>
          <a:noFill/>
          <a:ln/>
        </p:spPr>
        <p:txBody>
          <a:bodyPr wrap="square" rtlCol="0" anchor="ctr"/>
          <a:lstStyle/>
          <a:p>
            <a:pPr marL="0" indent="0">
              <a:buNone/>
            </a:pPr>
            <a:r>
              <a:rPr lang="en-US" sz="1600" b="1" dirty="0">
                <a:solidFill>
                  <a:srgbClr val="0B3D4C"/>
                </a:solidFill>
                <a:latin typeface="Calibri" pitchFamily="34" charset="0"/>
                <a:ea typeface="Calibri" pitchFamily="34" charset="-122"/>
                <a:cs typeface="Calibri" pitchFamily="34" charset="-120"/>
              </a:rPr>
              <a:t>Evaluation &amp; Deployment</a:t>
            </a:r>
            <a:endParaRPr lang="en-US" sz="1600" dirty="0"/>
          </a:p>
        </p:txBody>
      </p:sp>
      <p:sp>
        <p:nvSpPr>
          <p:cNvPr id="27" name="Text 25"/>
          <p:cNvSpPr/>
          <p:nvPr/>
        </p:nvSpPr>
        <p:spPr>
          <a:xfrm>
            <a:off x="8284464" y="4617720"/>
            <a:ext cx="3273552" cy="1536192"/>
          </a:xfrm>
          <a:prstGeom prst="rect">
            <a:avLst/>
          </a:prstGeom>
          <a:noFill/>
          <a:ln/>
        </p:spPr>
        <p:txBody>
          <a:bodyPr wrap="square" rtlCol="0" anchor="ctr"/>
          <a:lstStyle/>
          <a:p>
            <a:pPr marL="0" indent="0">
              <a:lnSpc>
                <a:spcPct val="115000"/>
              </a:lnSpc>
              <a:buNone/>
            </a:pPr>
            <a:r>
              <a:rPr lang="en-US" sz="1600" dirty="0">
                <a:solidFill>
                  <a:srgbClr val="17313A"/>
                </a:solidFill>
                <a:latin typeface="Calibri" pitchFamily="34" charset="0"/>
                <a:ea typeface="Calibri" pitchFamily="34" charset="-122"/>
                <a:cs typeface="Calibri" pitchFamily="34" charset="-120"/>
              </a:rPr>
              <a:t>Score each model on its hold-out set with scikit-learn's classification_report, then wire the output into a Gradio web application.</a:t>
            </a:r>
            <a:endParaRPr lang="en-US" sz="1600" dirty="0"/>
          </a:p>
        </p:txBody>
      </p:sp>
      <p:sp>
        <p:nvSpPr>
          <p:cNvPr id="29" name="Text 27"/>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Methodology</a:t>
            </a:r>
            <a:endParaRPr lang="en-US" sz="1000" dirty="0"/>
          </a:p>
        </p:txBody>
      </p:sp>
      <p:sp>
        <p:nvSpPr>
          <p:cNvPr id="30" name="Text 28"/>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31A73-D55E-6C0D-53AD-8C4E7E13B9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02F7C7-1CB1-F624-F8C3-5ADAECFB3F18}"/>
              </a:ext>
            </a:extLst>
          </p:cNvPr>
          <p:cNvSpPr/>
          <p:nvPr/>
        </p:nvSpPr>
        <p:spPr>
          <a:xfrm>
            <a:off x="457200" y="320040"/>
            <a:ext cx="9144000" cy="292608"/>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METHODOLOGY</a:t>
            </a:r>
            <a:endParaRPr lang="en-US" sz="1600" dirty="0"/>
          </a:p>
        </p:txBody>
      </p:sp>
      <p:sp>
        <p:nvSpPr>
          <p:cNvPr id="3" name="Text 1">
            <a:extLst>
              <a:ext uri="{FF2B5EF4-FFF2-40B4-BE49-F238E27FC236}">
                <a16:creationId xmlns:a16="http://schemas.microsoft.com/office/drawing/2014/main" id="{DCB351D2-03AD-F4D0-DA38-4086CE1E4C50}"/>
              </a:ext>
            </a:extLst>
          </p:cNvPr>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How the System Was Built</a:t>
            </a:r>
            <a:endParaRPr lang="en-US" sz="2800" dirty="0"/>
          </a:p>
        </p:txBody>
      </p:sp>
      <p:sp>
        <p:nvSpPr>
          <p:cNvPr id="16" name="Shape 14">
            <a:extLst>
              <a:ext uri="{FF2B5EF4-FFF2-40B4-BE49-F238E27FC236}">
                <a16:creationId xmlns:a16="http://schemas.microsoft.com/office/drawing/2014/main" id="{798007D1-3FCA-4294-33C8-121CB9496D8B}"/>
              </a:ext>
            </a:extLst>
          </p:cNvPr>
          <p:cNvSpPr/>
          <p:nvPr/>
        </p:nvSpPr>
        <p:spPr>
          <a:xfrm>
            <a:off x="457200" y="1221972"/>
            <a:ext cx="10831484" cy="3786908"/>
          </a:xfrm>
          <a:prstGeom prst="roundRect">
            <a:avLst>
              <a:gd name="adj" fmla="val 3922"/>
            </a:avLst>
          </a:prstGeom>
          <a:solidFill>
            <a:srgbClr val="D3E6E9"/>
          </a:solidFill>
          <a:ln/>
        </p:spPr>
      </p:sp>
      <p:sp>
        <p:nvSpPr>
          <p:cNvPr id="28" name="Text 26">
            <a:extLst>
              <a:ext uri="{FF2B5EF4-FFF2-40B4-BE49-F238E27FC236}">
                <a16:creationId xmlns:a16="http://schemas.microsoft.com/office/drawing/2014/main" id="{2EAA0B74-0B48-BB8D-E3D8-74B602F29F40}"/>
              </a:ext>
            </a:extLst>
          </p:cNvPr>
          <p:cNvSpPr/>
          <p:nvPr/>
        </p:nvSpPr>
        <p:spPr>
          <a:xfrm>
            <a:off x="515666" y="1257807"/>
            <a:ext cx="10703745" cy="2653793"/>
          </a:xfrm>
          <a:prstGeom prst="rect">
            <a:avLst/>
          </a:prstGeom>
          <a:noFill/>
          <a:ln/>
        </p:spPr>
        <p:txBody>
          <a:bodyPr wrap="square" rtlCol="0" anchor="ctr"/>
          <a:lstStyle/>
          <a:p>
            <a:pPr>
              <a:lnSpc>
                <a:spcPct val="110000"/>
              </a:lnSpc>
            </a:pPr>
            <a:r>
              <a:rPr lang="en-US" sz="2000" b="1" i="1" dirty="0">
                <a:latin typeface="Calibri" pitchFamily="34" charset="0"/>
                <a:ea typeface="Calibri" pitchFamily="34" charset="-122"/>
                <a:cs typeface="Calibri" pitchFamily="34" charset="-120"/>
              </a:rPr>
              <a:t>Rationale behind the model selection</a:t>
            </a:r>
            <a:r>
              <a:rPr lang="en-US" sz="2000" i="1" dirty="0">
                <a:latin typeface="Calibri" pitchFamily="34" charset="0"/>
                <a:ea typeface="Calibri" pitchFamily="34" charset="-122"/>
                <a:cs typeface="Calibri" pitchFamily="34" charset="-120"/>
              </a:rPr>
              <a:t>: </a:t>
            </a:r>
          </a:p>
          <a:p>
            <a:pPr marL="0" indent="0">
              <a:lnSpc>
                <a:spcPct val="110000"/>
              </a:lnSpc>
              <a:buNone/>
            </a:pPr>
            <a:endParaRPr lang="en-US" sz="2000" i="1" dirty="0">
              <a:latin typeface="Calibri" pitchFamily="34" charset="0"/>
              <a:ea typeface="Calibri" pitchFamily="34" charset="-122"/>
              <a:cs typeface="Calibri" pitchFamily="34" charset="-120"/>
            </a:endParaRPr>
          </a:p>
          <a:p>
            <a:pPr>
              <a:lnSpc>
                <a:spcPct val="110000"/>
              </a:lnSpc>
            </a:pPr>
            <a:r>
              <a:rPr lang="en-US" sz="2000" b="1" dirty="0"/>
              <a:t>Gradient Boosted Decision Trees (</a:t>
            </a:r>
            <a:r>
              <a:rPr lang="en-US" sz="2000" b="1" dirty="0" err="1"/>
              <a:t>XGBoost</a:t>
            </a:r>
            <a:r>
              <a:rPr lang="en-US" sz="2000" b="1" dirty="0"/>
              <a:t>)</a:t>
            </a:r>
            <a:r>
              <a:rPr lang="en-US" sz="2000" dirty="0"/>
              <a:t> </a:t>
            </a:r>
            <a:r>
              <a:rPr lang="en-US" sz="2000" i="1" dirty="0">
                <a:latin typeface="Calibri" pitchFamily="34" charset="0"/>
                <a:ea typeface="Calibri" pitchFamily="34" charset="-122"/>
                <a:cs typeface="Calibri" pitchFamily="34" charset="-120"/>
              </a:rPr>
              <a:t>was chosen for </a:t>
            </a:r>
          </a:p>
          <a:p>
            <a:pPr marL="457200" indent="-457200">
              <a:lnSpc>
                <a:spcPct val="110000"/>
              </a:lnSpc>
              <a:buAutoNum type="arabicPeriod"/>
            </a:pPr>
            <a:r>
              <a:rPr lang="en-US" sz="2000" i="1" dirty="0">
                <a:latin typeface="Calibri" pitchFamily="34" charset="0"/>
                <a:ea typeface="Calibri" pitchFamily="34" charset="-122"/>
                <a:cs typeface="Calibri" pitchFamily="34" charset="-120"/>
              </a:rPr>
              <a:t>Best in-class performance on tabular clinical data, </a:t>
            </a:r>
            <a:r>
              <a:rPr lang="en-US" sz="2000" i="1" dirty="0" err="1">
                <a:latin typeface="Calibri" pitchFamily="34" charset="0"/>
                <a:ea typeface="Calibri" pitchFamily="34" charset="-122"/>
                <a:cs typeface="Calibri" pitchFamily="34" charset="-120"/>
              </a:rPr>
              <a:t>XGBoost</a:t>
            </a:r>
            <a:r>
              <a:rPr lang="en-US" sz="2000" i="1" dirty="0">
                <a:latin typeface="Calibri" pitchFamily="34" charset="0"/>
                <a:ea typeface="Calibri" pitchFamily="34" charset="-122"/>
                <a:cs typeface="Calibri" pitchFamily="34" charset="-120"/>
              </a:rPr>
              <a:t> reigns supreme on Tabular data</a:t>
            </a:r>
          </a:p>
          <a:p>
            <a:pPr marL="457200" indent="-457200">
              <a:lnSpc>
                <a:spcPct val="110000"/>
              </a:lnSpc>
              <a:buAutoNum type="arabicPeriod"/>
            </a:pPr>
            <a:r>
              <a:rPr lang="en-US" sz="2000" i="1" dirty="0">
                <a:latin typeface="Calibri" pitchFamily="34" charset="0"/>
                <a:ea typeface="Calibri" pitchFamily="34" charset="-122"/>
                <a:cs typeface="Calibri" pitchFamily="34" charset="-120"/>
              </a:rPr>
              <a:t>efficient training across five disease targets</a:t>
            </a:r>
          </a:p>
        </p:txBody>
      </p:sp>
      <p:sp>
        <p:nvSpPr>
          <p:cNvPr id="29" name="Text 27">
            <a:extLst>
              <a:ext uri="{FF2B5EF4-FFF2-40B4-BE49-F238E27FC236}">
                <a16:creationId xmlns:a16="http://schemas.microsoft.com/office/drawing/2014/main" id="{A288AFC8-B315-ED5C-FDCF-D9ABF271E983}"/>
              </a:ext>
            </a:extLst>
          </p:cNvPr>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Methodology</a:t>
            </a:r>
            <a:endParaRPr lang="en-US" sz="1000" dirty="0"/>
          </a:p>
        </p:txBody>
      </p:sp>
      <p:sp>
        <p:nvSpPr>
          <p:cNvPr id="30" name="Text 28">
            <a:extLst>
              <a:ext uri="{FF2B5EF4-FFF2-40B4-BE49-F238E27FC236}">
                <a16:creationId xmlns:a16="http://schemas.microsoft.com/office/drawing/2014/main" id="{B6BDCBEB-78CA-8787-35A2-D664AB03348F}"/>
              </a:ext>
            </a:extLst>
          </p:cNvPr>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6</a:t>
            </a:r>
            <a:endParaRPr lang="en-US" sz="1000" dirty="0"/>
          </a:p>
        </p:txBody>
      </p:sp>
    </p:spTree>
    <p:extLst>
      <p:ext uri="{BB962C8B-B14F-4D97-AF65-F5344CB8AC3E}">
        <p14:creationId xmlns:p14="http://schemas.microsoft.com/office/powerpoint/2010/main" val="2268170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SYSTEM DESIGN</a:t>
            </a:r>
            <a:endParaRPr lang="en-US" sz="16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System Architecture (Data Flow)</a:t>
            </a:r>
            <a:endParaRPr lang="en-US" sz="2800" dirty="0"/>
          </a:p>
        </p:txBody>
      </p:sp>
      <p:sp>
        <p:nvSpPr>
          <p:cNvPr id="4" name="Shape 2"/>
          <p:cNvSpPr/>
          <p:nvPr/>
        </p:nvSpPr>
        <p:spPr>
          <a:xfrm>
            <a:off x="457200" y="1737360"/>
            <a:ext cx="1691640" cy="1371600"/>
          </a:xfrm>
          <a:prstGeom prst="roundRect">
            <a:avLst>
              <a:gd name="adj" fmla="val 6667"/>
            </a:avLst>
          </a:prstGeom>
          <a:solidFill>
            <a:srgbClr val="0F7A8C"/>
          </a:solidFill>
          <a:ln/>
        </p:spPr>
      </p:sp>
      <p:sp>
        <p:nvSpPr>
          <p:cNvPr id="5" name="Text 3"/>
          <p:cNvSpPr/>
          <p:nvPr/>
        </p:nvSpPr>
        <p:spPr>
          <a:xfrm>
            <a:off x="530352" y="1847088"/>
            <a:ext cx="1545336" cy="50292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Kaggle Dataset</a:t>
            </a:r>
            <a:endParaRPr lang="en-US" sz="1400" dirty="0"/>
          </a:p>
        </p:txBody>
      </p:sp>
      <p:sp>
        <p:nvSpPr>
          <p:cNvPr id="6" name="Text 4"/>
          <p:cNvSpPr/>
          <p:nvPr/>
        </p:nvSpPr>
        <p:spPr>
          <a:xfrm>
            <a:off x="530352" y="2359152"/>
            <a:ext cx="1545336" cy="676656"/>
          </a:xfrm>
          <a:prstGeom prst="rect">
            <a:avLst/>
          </a:prstGeom>
          <a:noFill/>
          <a:ln/>
        </p:spPr>
        <p:txBody>
          <a:bodyPr wrap="square" rtlCol="0" anchor="t"/>
          <a:lstStyle/>
          <a:p>
            <a:pPr marL="0" indent="0" algn="ctr">
              <a:lnSpc>
                <a:spcPct val="110000"/>
              </a:lnSpc>
              <a:buNone/>
            </a:pPr>
            <a:r>
              <a:rPr lang="en-US" sz="1000" dirty="0">
                <a:solidFill>
                  <a:srgbClr val="FFFFFF"/>
                </a:solidFill>
                <a:latin typeface="Calibri" pitchFamily="34" charset="0"/>
                <a:ea typeface="Calibri" pitchFamily="34" charset="-122"/>
                <a:cs typeface="Calibri" pitchFamily="34" charset="-120"/>
              </a:rPr>
              <a:t>CDC BRFSS 2015 health indicators, 250k+ records</a:t>
            </a:r>
            <a:endParaRPr lang="en-US" sz="1000" dirty="0"/>
          </a:p>
        </p:txBody>
      </p:sp>
      <p:sp>
        <p:nvSpPr>
          <p:cNvPr id="7" name="Text 5"/>
          <p:cNvSpPr/>
          <p:nvPr/>
        </p:nvSpPr>
        <p:spPr>
          <a:xfrm>
            <a:off x="2148840" y="2194560"/>
            <a:ext cx="224942" cy="457200"/>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373782" y="1737360"/>
            <a:ext cx="1691640" cy="1371600"/>
          </a:xfrm>
          <a:prstGeom prst="roundRect">
            <a:avLst>
              <a:gd name="adj" fmla="val 6667"/>
            </a:avLst>
          </a:prstGeom>
          <a:solidFill>
            <a:srgbClr val="0F7A8C"/>
          </a:solidFill>
          <a:ln/>
        </p:spPr>
      </p:sp>
      <p:sp>
        <p:nvSpPr>
          <p:cNvPr id="9" name="Text 7"/>
          <p:cNvSpPr/>
          <p:nvPr/>
        </p:nvSpPr>
        <p:spPr>
          <a:xfrm>
            <a:off x="2446934" y="1847088"/>
            <a:ext cx="1545336" cy="50292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Preprocess</a:t>
            </a:r>
            <a:endParaRPr lang="en-US" sz="1400" dirty="0"/>
          </a:p>
        </p:txBody>
      </p:sp>
      <p:sp>
        <p:nvSpPr>
          <p:cNvPr id="10" name="Text 8"/>
          <p:cNvSpPr/>
          <p:nvPr/>
        </p:nvSpPr>
        <p:spPr>
          <a:xfrm>
            <a:off x="2446934" y="2359152"/>
            <a:ext cx="1545336" cy="676656"/>
          </a:xfrm>
          <a:prstGeom prst="rect">
            <a:avLst/>
          </a:prstGeom>
          <a:noFill/>
          <a:ln/>
        </p:spPr>
        <p:txBody>
          <a:bodyPr wrap="square" rtlCol="0" anchor="t"/>
          <a:lstStyle/>
          <a:p>
            <a:pPr marL="0" indent="0" algn="ctr">
              <a:lnSpc>
                <a:spcPct val="110000"/>
              </a:lnSpc>
              <a:buNone/>
            </a:pPr>
            <a:r>
              <a:rPr lang="en-US" sz="1000" dirty="0">
                <a:solidFill>
                  <a:srgbClr val="FFFFFF"/>
                </a:solidFill>
                <a:latin typeface="Calibri" pitchFamily="34" charset="0"/>
                <a:ea typeface="Calibri" pitchFamily="34" charset="-122"/>
                <a:cs typeface="Calibri" pitchFamily="34" charset="-120"/>
              </a:rPr>
              <a:t>Select 15 features, scale numeric ranges</a:t>
            </a:r>
            <a:endParaRPr lang="en-US" sz="1000" dirty="0"/>
          </a:p>
        </p:txBody>
      </p:sp>
      <p:sp>
        <p:nvSpPr>
          <p:cNvPr id="11" name="Text 9"/>
          <p:cNvSpPr/>
          <p:nvPr/>
        </p:nvSpPr>
        <p:spPr>
          <a:xfrm>
            <a:off x="4065422" y="2194560"/>
            <a:ext cx="224942" cy="457200"/>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290365" y="1737360"/>
            <a:ext cx="1691640" cy="1371600"/>
          </a:xfrm>
          <a:prstGeom prst="roundRect">
            <a:avLst>
              <a:gd name="adj" fmla="val 6667"/>
            </a:avLst>
          </a:prstGeom>
          <a:solidFill>
            <a:srgbClr val="0F7A8C"/>
          </a:solidFill>
          <a:ln/>
        </p:spPr>
      </p:sp>
      <p:sp>
        <p:nvSpPr>
          <p:cNvPr id="13" name="Text 11"/>
          <p:cNvSpPr/>
          <p:nvPr/>
        </p:nvSpPr>
        <p:spPr>
          <a:xfrm>
            <a:off x="4363517" y="1847088"/>
            <a:ext cx="1545336" cy="50292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5 XGBoost Models</a:t>
            </a:r>
            <a:endParaRPr lang="en-US" sz="1400" dirty="0"/>
          </a:p>
        </p:txBody>
      </p:sp>
      <p:sp>
        <p:nvSpPr>
          <p:cNvPr id="14" name="Text 12"/>
          <p:cNvSpPr/>
          <p:nvPr/>
        </p:nvSpPr>
        <p:spPr>
          <a:xfrm>
            <a:off x="4363517" y="2359152"/>
            <a:ext cx="1545336" cy="676656"/>
          </a:xfrm>
          <a:prstGeom prst="rect">
            <a:avLst/>
          </a:prstGeom>
          <a:noFill/>
          <a:ln/>
        </p:spPr>
        <p:txBody>
          <a:bodyPr wrap="square" rtlCol="0" anchor="t"/>
          <a:lstStyle/>
          <a:p>
            <a:pPr marL="0" indent="0" algn="ctr">
              <a:lnSpc>
                <a:spcPct val="110000"/>
              </a:lnSpc>
              <a:buNone/>
            </a:pPr>
            <a:r>
              <a:rPr lang="en-US" sz="1000" dirty="0">
                <a:solidFill>
                  <a:srgbClr val="FFFFFF"/>
                </a:solidFill>
                <a:latin typeface="Calibri" pitchFamily="34" charset="0"/>
                <a:ea typeface="Calibri" pitchFamily="34" charset="-122"/>
                <a:cs typeface="Calibri" pitchFamily="34" charset="-120"/>
              </a:rPr>
              <a:t>One specialist model per disease, trained in parallel</a:t>
            </a:r>
            <a:endParaRPr lang="en-US" sz="1000" dirty="0"/>
          </a:p>
        </p:txBody>
      </p:sp>
      <p:sp>
        <p:nvSpPr>
          <p:cNvPr id="15" name="Text 13"/>
          <p:cNvSpPr/>
          <p:nvPr/>
        </p:nvSpPr>
        <p:spPr>
          <a:xfrm>
            <a:off x="5982005" y="2194560"/>
            <a:ext cx="224942" cy="457200"/>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206947" y="1737360"/>
            <a:ext cx="1691640" cy="1371600"/>
          </a:xfrm>
          <a:prstGeom prst="roundRect">
            <a:avLst>
              <a:gd name="adj" fmla="val 6667"/>
            </a:avLst>
          </a:prstGeom>
          <a:solidFill>
            <a:srgbClr val="0F7A8C"/>
          </a:solidFill>
          <a:ln/>
        </p:spPr>
      </p:sp>
      <p:sp>
        <p:nvSpPr>
          <p:cNvPr id="17" name="Text 15"/>
          <p:cNvSpPr/>
          <p:nvPr/>
        </p:nvSpPr>
        <p:spPr>
          <a:xfrm>
            <a:off x="6280099" y="1847088"/>
            <a:ext cx="1545336" cy="50292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Prediction Engine</a:t>
            </a:r>
            <a:endParaRPr lang="en-US" sz="1400" dirty="0"/>
          </a:p>
        </p:txBody>
      </p:sp>
      <p:sp>
        <p:nvSpPr>
          <p:cNvPr id="18" name="Text 16"/>
          <p:cNvSpPr/>
          <p:nvPr/>
        </p:nvSpPr>
        <p:spPr>
          <a:xfrm>
            <a:off x="6280099" y="2359152"/>
            <a:ext cx="1545336" cy="676656"/>
          </a:xfrm>
          <a:prstGeom prst="rect">
            <a:avLst/>
          </a:prstGeom>
          <a:noFill/>
          <a:ln/>
        </p:spPr>
        <p:txBody>
          <a:bodyPr wrap="square" rtlCol="0" anchor="t"/>
          <a:lstStyle/>
          <a:p>
            <a:pPr marL="0" indent="0" algn="ctr">
              <a:lnSpc>
                <a:spcPct val="110000"/>
              </a:lnSpc>
              <a:buNone/>
            </a:pPr>
            <a:r>
              <a:rPr lang="en-US" sz="1000" dirty="0">
                <a:solidFill>
                  <a:srgbClr val="FFFFFF"/>
                </a:solidFill>
                <a:latin typeface="Calibri" pitchFamily="34" charset="0"/>
                <a:ea typeface="Calibri" pitchFamily="34" charset="-122"/>
                <a:cs typeface="Calibri" pitchFamily="34" charset="-120"/>
              </a:rPr>
              <a:t>Risk % + real-time vital-sign safety checks</a:t>
            </a:r>
            <a:endParaRPr lang="en-US" sz="1000" dirty="0"/>
          </a:p>
        </p:txBody>
      </p:sp>
      <p:sp>
        <p:nvSpPr>
          <p:cNvPr id="19" name="Text 17"/>
          <p:cNvSpPr/>
          <p:nvPr/>
        </p:nvSpPr>
        <p:spPr>
          <a:xfrm>
            <a:off x="7898587" y="2194560"/>
            <a:ext cx="224942" cy="457200"/>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8123530" y="1737360"/>
            <a:ext cx="1691640" cy="1371600"/>
          </a:xfrm>
          <a:prstGeom prst="roundRect">
            <a:avLst>
              <a:gd name="adj" fmla="val 6667"/>
            </a:avLst>
          </a:prstGeom>
          <a:solidFill>
            <a:srgbClr val="0F7A8C"/>
          </a:solidFill>
          <a:ln/>
        </p:spPr>
      </p:sp>
      <p:sp>
        <p:nvSpPr>
          <p:cNvPr id="21" name="Text 19"/>
          <p:cNvSpPr/>
          <p:nvPr/>
        </p:nvSpPr>
        <p:spPr>
          <a:xfrm>
            <a:off x="8196682" y="1847088"/>
            <a:ext cx="1545336" cy="50292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Clinical Recommendations</a:t>
            </a:r>
            <a:endParaRPr lang="en-US" sz="1400" dirty="0"/>
          </a:p>
        </p:txBody>
      </p:sp>
      <p:sp>
        <p:nvSpPr>
          <p:cNvPr id="22" name="Text 20"/>
          <p:cNvSpPr/>
          <p:nvPr/>
        </p:nvSpPr>
        <p:spPr>
          <a:xfrm>
            <a:off x="8196682" y="2359152"/>
            <a:ext cx="1545336" cy="676656"/>
          </a:xfrm>
          <a:prstGeom prst="rect">
            <a:avLst/>
          </a:prstGeom>
          <a:noFill/>
          <a:ln/>
        </p:spPr>
        <p:txBody>
          <a:bodyPr wrap="square" rtlCol="0" anchor="t"/>
          <a:lstStyle/>
          <a:p>
            <a:pPr marL="0" indent="0" algn="ctr">
              <a:lnSpc>
                <a:spcPct val="110000"/>
              </a:lnSpc>
              <a:buNone/>
            </a:pPr>
            <a:r>
              <a:rPr lang="en-US" sz="1000" dirty="0">
                <a:solidFill>
                  <a:srgbClr val="FFFFFF"/>
                </a:solidFill>
                <a:latin typeface="Calibri" pitchFamily="34" charset="0"/>
                <a:ea typeface="Calibri" pitchFamily="34" charset="-122"/>
                <a:cs typeface="Calibri" pitchFamily="34" charset="-120"/>
              </a:rPr>
              <a:t>Rule-based next steps for each risk pattern</a:t>
            </a:r>
            <a:endParaRPr lang="en-US" sz="1000" dirty="0"/>
          </a:p>
        </p:txBody>
      </p:sp>
      <p:sp>
        <p:nvSpPr>
          <p:cNvPr id="23" name="Text 21"/>
          <p:cNvSpPr/>
          <p:nvPr/>
        </p:nvSpPr>
        <p:spPr>
          <a:xfrm>
            <a:off x="9815170" y="2194560"/>
            <a:ext cx="224942" cy="457200"/>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10040112" y="1737360"/>
            <a:ext cx="1691640" cy="1371600"/>
          </a:xfrm>
          <a:prstGeom prst="roundRect">
            <a:avLst>
              <a:gd name="adj" fmla="val 6667"/>
            </a:avLst>
          </a:prstGeom>
          <a:solidFill>
            <a:srgbClr val="02C39A"/>
          </a:solidFill>
          <a:ln/>
        </p:spPr>
      </p:sp>
      <p:sp>
        <p:nvSpPr>
          <p:cNvPr id="25" name="Text 23"/>
          <p:cNvSpPr/>
          <p:nvPr/>
        </p:nvSpPr>
        <p:spPr>
          <a:xfrm>
            <a:off x="10113264" y="1847088"/>
            <a:ext cx="1545336" cy="50292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Gradio Web UI</a:t>
            </a:r>
            <a:endParaRPr lang="en-US" sz="1400" dirty="0"/>
          </a:p>
        </p:txBody>
      </p:sp>
      <p:sp>
        <p:nvSpPr>
          <p:cNvPr id="26" name="Text 24"/>
          <p:cNvSpPr/>
          <p:nvPr/>
        </p:nvSpPr>
        <p:spPr>
          <a:xfrm>
            <a:off x="10113264" y="2359152"/>
            <a:ext cx="1545336" cy="676656"/>
          </a:xfrm>
          <a:prstGeom prst="rect">
            <a:avLst/>
          </a:prstGeom>
          <a:noFill/>
          <a:ln/>
        </p:spPr>
        <p:txBody>
          <a:bodyPr wrap="square" rtlCol="0" anchor="t"/>
          <a:lstStyle/>
          <a:p>
            <a:pPr marL="0" indent="0" algn="ctr">
              <a:lnSpc>
                <a:spcPct val="110000"/>
              </a:lnSpc>
              <a:buNone/>
            </a:pPr>
            <a:r>
              <a:rPr lang="en-US" sz="1000" dirty="0">
                <a:solidFill>
                  <a:srgbClr val="FFFFFF"/>
                </a:solidFill>
                <a:latin typeface="Calibri" pitchFamily="34" charset="0"/>
                <a:ea typeface="Calibri" pitchFamily="34" charset="-122"/>
                <a:cs typeface="Calibri" pitchFamily="34" charset="-120"/>
              </a:rPr>
              <a:t>Interactive report for clinicians / patients</a:t>
            </a:r>
            <a:endParaRPr lang="en-US" sz="1000" dirty="0"/>
          </a:p>
        </p:txBody>
      </p:sp>
      <p:sp>
        <p:nvSpPr>
          <p:cNvPr id="27" name="Shape 25"/>
          <p:cNvSpPr/>
          <p:nvPr/>
        </p:nvSpPr>
        <p:spPr>
          <a:xfrm>
            <a:off x="457200" y="3657600"/>
            <a:ext cx="11274552" cy="2286000"/>
          </a:xfrm>
          <a:prstGeom prst="roundRect">
            <a:avLst>
              <a:gd name="adj" fmla="val 4000"/>
            </a:avLst>
          </a:prstGeom>
          <a:solidFill>
            <a:srgbClr val="EAF6F7"/>
          </a:solidFill>
          <a:ln/>
        </p:spPr>
      </p:sp>
      <p:sp>
        <p:nvSpPr>
          <p:cNvPr id="28" name="Text 26"/>
          <p:cNvSpPr/>
          <p:nvPr/>
        </p:nvSpPr>
        <p:spPr>
          <a:xfrm>
            <a:off x="777240" y="3886200"/>
            <a:ext cx="5486400" cy="274320"/>
          </a:xfrm>
          <a:prstGeom prst="rect">
            <a:avLst/>
          </a:prstGeom>
          <a:noFill/>
          <a:ln/>
        </p:spPr>
        <p:txBody>
          <a:bodyPr wrap="square" rtlCol="0" anchor="ctr"/>
          <a:lstStyle/>
          <a:p>
            <a:pPr marL="0" indent="0">
              <a:buNone/>
            </a:pPr>
            <a:r>
              <a:rPr lang="en-US" sz="1400" b="1" kern="0" spc="150" dirty="0">
                <a:solidFill>
                  <a:srgbClr val="0F7A8C"/>
                </a:solidFill>
                <a:latin typeface="Calibri" pitchFamily="34" charset="0"/>
                <a:ea typeface="Calibri" pitchFamily="34" charset="-122"/>
                <a:cs typeface="Calibri" pitchFamily="34" charset="-120"/>
              </a:rPr>
              <a:t>DESIGN PRINCIPLE</a:t>
            </a:r>
            <a:endParaRPr lang="en-US" sz="1400" dirty="0"/>
          </a:p>
        </p:txBody>
      </p:sp>
      <p:sp>
        <p:nvSpPr>
          <p:cNvPr id="29" name="Text 27"/>
          <p:cNvSpPr/>
          <p:nvPr/>
        </p:nvSpPr>
        <p:spPr>
          <a:xfrm>
            <a:off x="777240" y="4251960"/>
            <a:ext cx="10607040" cy="914400"/>
          </a:xfrm>
          <a:prstGeom prst="rect">
            <a:avLst/>
          </a:prstGeom>
          <a:noFill/>
          <a:ln/>
        </p:spPr>
        <p:txBody>
          <a:bodyPr wrap="square" rtlCol="0" anchor="ctr"/>
          <a:lstStyle/>
          <a:p>
            <a:pPr marL="0" indent="0">
              <a:lnSpc>
                <a:spcPct val="125000"/>
              </a:lnSpc>
              <a:buNone/>
            </a:pPr>
            <a:r>
              <a:rPr lang="en-US" sz="1400" dirty="0">
                <a:solidFill>
                  <a:srgbClr val="17313A"/>
                </a:solidFill>
                <a:latin typeface="Calibri" pitchFamily="34" charset="0"/>
                <a:ea typeface="Calibri" pitchFamily="34" charset="-122"/>
                <a:cs typeface="Calibri" pitchFamily="34" charset="-120"/>
              </a:rPr>
              <a:t>The pipeline trains once, offline, then serves live predictions instantly through the web interface. No re-training is required per patient. This separates the heavier, periodic training workload from the lightweight, real-time workload, keeping the app fast and simple.</a:t>
            </a:r>
            <a:endParaRPr lang="en-US" sz="1400" dirty="0"/>
          </a:p>
        </p:txBody>
      </p:sp>
      <p:sp>
        <p:nvSpPr>
          <p:cNvPr id="31" name="Text 29"/>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System Design</a:t>
            </a:r>
            <a:endParaRPr lang="en-US" sz="1000" dirty="0"/>
          </a:p>
        </p:txBody>
      </p:sp>
      <p:sp>
        <p:nvSpPr>
          <p:cNvPr id="32" name="Text 30"/>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INTERFACE DESIGN</a:t>
            </a:r>
            <a:endParaRPr lang="en-US" sz="16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Graphical User Interface</a:t>
            </a:r>
            <a:endParaRPr lang="en-US" sz="2800" dirty="0"/>
          </a:p>
        </p:txBody>
      </p:sp>
      <p:sp>
        <p:nvSpPr>
          <p:cNvPr id="4" name="Text 2"/>
          <p:cNvSpPr/>
          <p:nvPr/>
        </p:nvSpPr>
        <p:spPr>
          <a:xfrm>
            <a:off x="457200" y="1325880"/>
            <a:ext cx="11247120" cy="685800"/>
          </a:xfrm>
          <a:prstGeom prst="rect">
            <a:avLst/>
          </a:prstGeom>
          <a:noFill/>
          <a:ln/>
        </p:spPr>
        <p:txBody>
          <a:bodyPr wrap="square" rtlCol="0" anchor="ctr"/>
          <a:lstStyle/>
          <a:p>
            <a:pPr>
              <a:lnSpc>
                <a:spcPct val="120000"/>
              </a:lnSpc>
            </a:pPr>
            <a:r>
              <a:rPr lang="en-US" sz="1250" dirty="0">
                <a:solidFill>
                  <a:srgbClr val="17313A"/>
                </a:solidFill>
                <a:latin typeface="Calibri" pitchFamily="34" charset="0"/>
                <a:ea typeface="Calibri" pitchFamily="34" charset="-122"/>
                <a:cs typeface="Calibri" pitchFamily="34" charset="-120"/>
              </a:rPr>
              <a:t>The interface is built with </a:t>
            </a:r>
            <a:r>
              <a:rPr lang="en-US" sz="1250" b="1" dirty="0">
                <a:solidFill>
                  <a:srgbClr val="17313A"/>
                </a:solidFill>
                <a:latin typeface="Calibri" pitchFamily="34" charset="0"/>
                <a:ea typeface="Calibri" pitchFamily="34" charset="-122"/>
                <a:cs typeface="Calibri" pitchFamily="34" charset="-120"/>
              </a:rPr>
              <a:t>Gradio</a:t>
            </a:r>
            <a:r>
              <a:rPr lang="en-US" sz="1250" dirty="0">
                <a:solidFill>
                  <a:srgbClr val="17313A"/>
                </a:solidFill>
                <a:latin typeface="Calibri" pitchFamily="34" charset="0"/>
                <a:ea typeface="Calibri" pitchFamily="34" charset="-122"/>
                <a:cs typeface="Calibri" pitchFamily="34" charset="-120"/>
              </a:rPr>
              <a:t>, a Python library that turns a single function into a web application without much front-end code. The layout groups inputs by purpose and displays the results in an output panel visible at all times.</a:t>
            </a:r>
            <a:endParaRPr lang="en-US" sz="1250" dirty="0"/>
          </a:p>
        </p:txBody>
      </p:sp>
      <p:sp>
        <p:nvSpPr>
          <p:cNvPr id="17" name="Text 15"/>
          <p:cNvSpPr/>
          <p:nvPr/>
        </p:nvSpPr>
        <p:spPr>
          <a:xfrm>
            <a:off x="4177976" y="4046220"/>
            <a:ext cx="21031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Run AI Assessment</a:t>
            </a:r>
            <a:endParaRPr lang="en-US" sz="1200" dirty="0"/>
          </a:p>
        </p:txBody>
      </p:sp>
      <p:pic>
        <p:nvPicPr>
          <p:cNvPr id="23" name="Picture 22">
            <a:extLst>
              <a:ext uri="{FF2B5EF4-FFF2-40B4-BE49-F238E27FC236}">
                <a16:creationId xmlns:a16="http://schemas.microsoft.com/office/drawing/2014/main" id="{683D2A89-FB81-3D17-B032-27DB7C5A9510}"/>
              </a:ext>
            </a:extLst>
          </p:cNvPr>
          <p:cNvPicPr>
            <a:picLocks noChangeAspect="1"/>
          </p:cNvPicPr>
          <p:nvPr/>
        </p:nvPicPr>
        <p:blipFill>
          <a:blip r:embed="rId3"/>
          <a:stretch>
            <a:fillRect/>
          </a:stretch>
        </p:blipFill>
        <p:spPr>
          <a:xfrm>
            <a:off x="457200" y="2011680"/>
            <a:ext cx="9171561" cy="42793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RESULTS</a:t>
            </a:r>
            <a:endParaRPr lang="en-US" sz="16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Screenshots and Outputs</a:t>
            </a:r>
            <a:endParaRPr lang="en-US" sz="2800" dirty="0"/>
          </a:p>
        </p:txBody>
      </p:sp>
      <p:sp>
        <p:nvSpPr>
          <p:cNvPr id="18" name="Text 16"/>
          <p:cNvSpPr/>
          <p:nvPr/>
        </p:nvSpPr>
        <p:spPr>
          <a:xfrm>
            <a:off x="6263640" y="1691640"/>
            <a:ext cx="5486400" cy="274320"/>
          </a:xfrm>
          <a:prstGeom prst="rect">
            <a:avLst/>
          </a:prstGeom>
          <a:noFill/>
          <a:ln/>
        </p:spPr>
        <p:txBody>
          <a:bodyPr wrap="square" rtlCol="0" anchor="ctr"/>
          <a:lstStyle/>
          <a:p>
            <a:pPr marL="0" indent="0">
              <a:buNone/>
            </a:pPr>
            <a:r>
              <a:rPr lang="en-US" sz="1400" b="1" kern="0" spc="100" dirty="0">
                <a:solidFill>
                  <a:srgbClr val="0F7A8C"/>
                </a:solidFill>
                <a:latin typeface="Calibri" pitchFamily="34" charset="0"/>
                <a:ea typeface="Calibri" pitchFamily="34" charset="-122"/>
                <a:cs typeface="Calibri" pitchFamily="34" charset="-120"/>
              </a:rPr>
              <a:t>WHAT THE OUTPUT COMMUNICATES</a:t>
            </a:r>
            <a:endParaRPr lang="en-US" sz="1400" dirty="0"/>
          </a:p>
        </p:txBody>
      </p:sp>
      <p:sp>
        <p:nvSpPr>
          <p:cNvPr id="19" name="Text 17"/>
          <p:cNvSpPr/>
          <p:nvPr/>
        </p:nvSpPr>
        <p:spPr>
          <a:xfrm>
            <a:off x="6263640" y="2148840"/>
            <a:ext cx="5468112" cy="310896"/>
          </a:xfrm>
          <a:prstGeom prst="rect">
            <a:avLst/>
          </a:prstGeom>
          <a:noFill/>
          <a:ln/>
        </p:spPr>
        <p:txBody>
          <a:bodyPr wrap="square" rtlCol="0" anchor="ctr"/>
          <a:lstStyle/>
          <a:p>
            <a:pPr marL="0" indent="0">
              <a:buNone/>
            </a:pPr>
            <a:r>
              <a:rPr lang="en-US" sz="1400" b="1" dirty="0">
                <a:solidFill>
                  <a:srgbClr val="0B3D4C"/>
                </a:solidFill>
                <a:latin typeface="Calibri" pitchFamily="34" charset="0"/>
                <a:ea typeface="Calibri" pitchFamily="34" charset="-122"/>
                <a:cs typeface="Calibri" pitchFamily="34" charset="-120"/>
              </a:rPr>
              <a:t>Disease Probability Estimates</a:t>
            </a:r>
            <a:endParaRPr lang="en-US" sz="1400" dirty="0"/>
          </a:p>
        </p:txBody>
      </p:sp>
      <p:sp>
        <p:nvSpPr>
          <p:cNvPr id="20" name="Text 18"/>
          <p:cNvSpPr/>
          <p:nvPr/>
        </p:nvSpPr>
        <p:spPr>
          <a:xfrm>
            <a:off x="6263640" y="2478024"/>
            <a:ext cx="5468112" cy="777240"/>
          </a:xfrm>
          <a:prstGeom prst="rect">
            <a:avLst/>
          </a:prstGeom>
          <a:noFill/>
          <a:ln/>
        </p:spPr>
        <p:txBody>
          <a:bodyPr wrap="square" rtlCol="0" anchor="ctr"/>
          <a:lstStyle/>
          <a:p>
            <a:pPr marL="0" indent="0">
              <a:lnSpc>
                <a:spcPct val="120000"/>
              </a:lnSpc>
              <a:buNone/>
            </a:pPr>
            <a:r>
              <a:rPr lang="en-US" sz="1100" dirty="0">
                <a:solidFill>
                  <a:srgbClr val="17313A"/>
                </a:solidFill>
                <a:latin typeface="Calibri" pitchFamily="34" charset="0"/>
                <a:ea typeface="Calibri" pitchFamily="34" charset="-122"/>
                <a:cs typeface="Calibri" pitchFamily="34" charset="-120"/>
              </a:rPr>
              <a:t>A percentage per disease showing how closely the patient's data resembles higher-risk patients in training, a screening signal and not a diagnosis.</a:t>
            </a:r>
            <a:endParaRPr lang="en-US" sz="1100" dirty="0"/>
          </a:p>
        </p:txBody>
      </p:sp>
      <p:sp>
        <p:nvSpPr>
          <p:cNvPr id="21" name="Text 19"/>
          <p:cNvSpPr/>
          <p:nvPr/>
        </p:nvSpPr>
        <p:spPr>
          <a:xfrm>
            <a:off x="6263640" y="3383280"/>
            <a:ext cx="5468112" cy="310896"/>
          </a:xfrm>
          <a:prstGeom prst="rect">
            <a:avLst/>
          </a:prstGeom>
          <a:noFill/>
          <a:ln/>
        </p:spPr>
        <p:txBody>
          <a:bodyPr wrap="square" rtlCol="0" anchor="ctr"/>
          <a:lstStyle/>
          <a:p>
            <a:pPr marL="0" indent="0">
              <a:buNone/>
            </a:pPr>
            <a:r>
              <a:rPr lang="en-US" sz="1400" b="1" dirty="0">
                <a:solidFill>
                  <a:srgbClr val="0B3D4C"/>
                </a:solidFill>
                <a:latin typeface="Calibri" pitchFamily="34" charset="0"/>
                <a:ea typeface="Calibri" pitchFamily="34" charset="-122"/>
                <a:cs typeface="Calibri" pitchFamily="34" charset="-120"/>
              </a:rPr>
              <a:t>Real-Time Physiological Status</a:t>
            </a:r>
            <a:endParaRPr lang="en-US" sz="1400" dirty="0"/>
          </a:p>
        </p:txBody>
      </p:sp>
      <p:sp>
        <p:nvSpPr>
          <p:cNvPr id="22" name="Text 20"/>
          <p:cNvSpPr/>
          <p:nvPr/>
        </p:nvSpPr>
        <p:spPr>
          <a:xfrm>
            <a:off x="6263640" y="3712464"/>
            <a:ext cx="5468112" cy="777240"/>
          </a:xfrm>
          <a:prstGeom prst="rect">
            <a:avLst/>
          </a:prstGeom>
          <a:noFill/>
          <a:ln/>
        </p:spPr>
        <p:txBody>
          <a:bodyPr wrap="square" rtlCol="0" anchor="ctr"/>
          <a:lstStyle/>
          <a:p>
            <a:pPr marL="0" indent="0">
              <a:lnSpc>
                <a:spcPct val="120000"/>
              </a:lnSpc>
              <a:buNone/>
            </a:pPr>
            <a:r>
              <a:rPr lang="en-US" sz="1100" dirty="0">
                <a:solidFill>
                  <a:srgbClr val="17313A"/>
                </a:solidFill>
                <a:latin typeface="Calibri" pitchFamily="34" charset="0"/>
                <a:ea typeface="Calibri" pitchFamily="34" charset="-122"/>
                <a:cs typeface="Calibri" pitchFamily="34" charset="-120"/>
              </a:rPr>
              <a:t>Immediate flags when heart rate or SpO2 fall outside safe ranges. They are manually generated independently of the ML models as a live safety net.</a:t>
            </a:r>
            <a:endParaRPr lang="en-US" sz="1100" dirty="0"/>
          </a:p>
        </p:txBody>
      </p:sp>
      <p:sp>
        <p:nvSpPr>
          <p:cNvPr id="23" name="Text 21"/>
          <p:cNvSpPr/>
          <p:nvPr/>
        </p:nvSpPr>
        <p:spPr>
          <a:xfrm>
            <a:off x="6263640" y="4617720"/>
            <a:ext cx="5468112" cy="310896"/>
          </a:xfrm>
          <a:prstGeom prst="rect">
            <a:avLst/>
          </a:prstGeom>
          <a:noFill/>
          <a:ln/>
        </p:spPr>
        <p:txBody>
          <a:bodyPr wrap="square" rtlCol="0" anchor="ctr"/>
          <a:lstStyle/>
          <a:p>
            <a:pPr marL="0" indent="0">
              <a:buNone/>
            </a:pPr>
            <a:r>
              <a:rPr lang="en-US" sz="1400" b="1" dirty="0">
                <a:solidFill>
                  <a:srgbClr val="0B3D4C"/>
                </a:solidFill>
                <a:latin typeface="Calibri" pitchFamily="34" charset="0"/>
                <a:ea typeface="Calibri" pitchFamily="34" charset="-122"/>
                <a:cs typeface="Calibri" pitchFamily="34" charset="-120"/>
              </a:rPr>
              <a:t>Clinical Decision Support Recommendations</a:t>
            </a:r>
            <a:endParaRPr lang="en-US" sz="1400" dirty="0"/>
          </a:p>
        </p:txBody>
      </p:sp>
      <p:sp>
        <p:nvSpPr>
          <p:cNvPr id="24" name="Text 22"/>
          <p:cNvSpPr/>
          <p:nvPr/>
        </p:nvSpPr>
        <p:spPr>
          <a:xfrm>
            <a:off x="6263640" y="4946904"/>
            <a:ext cx="5468112" cy="777240"/>
          </a:xfrm>
          <a:prstGeom prst="rect">
            <a:avLst/>
          </a:prstGeom>
          <a:noFill/>
          <a:ln/>
        </p:spPr>
        <p:txBody>
          <a:bodyPr wrap="square" rtlCol="0" anchor="ctr"/>
          <a:lstStyle/>
          <a:p>
            <a:pPr marL="0" indent="0">
              <a:lnSpc>
                <a:spcPct val="120000"/>
              </a:lnSpc>
              <a:buNone/>
            </a:pPr>
            <a:r>
              <a:rPr lang="en-US" sz="1100" dirty="0">
                <a:solidFill>
                  <a:srgbClr val="17313A"/>
                </a:solidFill>
                <a:latin typeface="Calibri" pitchFamily="34" charset="0"/>
                <a:ea typeface="Calibri" pitchFamily="34" charset="-122"/>
                <a:cs typeface="Calibri" pitchFamily="34" charset="-120"/>
              </a:rPr>
              <a:t>Plain-text English next steps, such as a specific lab test or specialist referral, translating risk scores into something actionable.</a:t>
            </a:r>
            <a:endParaRPr lang="en-US" sz="1100" dirty="0"/>
          </a:p>
        </p:txBody>
      </p:sp>
      <p:sp>
        <p:nvSpPr>
          <p:cNvPr id="25" name="Text 23"/>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Screenshots and Outputs</a:t>
            </a:r>
            <a:endParaRPr lang="en-US" sz="1000" dirty="0"/>
          </a:p>
        </p:txBody>
      </p:sp>
      <p:sp>
        <p:nvSpPr>
          <p:cNvPr id="26" name="Text 24"/>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10</a:t>
            </a:r>
            <a:endParaRPr lang="en-US" sz="1000" dirty="0"/>
          </a:p>
        </p:txBody>
      </p:sp>
      <p:pic>
        <p:nvPicPr>
          <p:cNvPr id="29" name="Picture 28">
            <a:extLst>
              <a:ext uri="{FF2B5EF4-FFF2-40B4-BE49-F238E27FC236}">
                <a16:creationId xmlns:a16="http://schemas.microsoft.com/office/drawing/2014/main" id="{143F0C8D-CE71-C343-7C9B-E9F17663B1A9}"/>
              </a:ext>
            </a:extLst>
          </p:cNvPr>
          <p:cNvPicPr>
            <a:picLocks noChangeAspect="1"/>
          </p:cNvPicPr>
          <p:nvPr/>
        </p:nvPicPr>
        <p:blipFill>
          <a:blip r:embed="rId3"/>
          <a:stretch>
            <a:fillRect/>
          </a:stretch>
        </p:blipFill>
        <p:spPr>
          <a:xfrm>
            <a:off x="437936" y="1775460"/>
            <a:ext cx="5825704" cy="3652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B3D4C"/>
        </a:solidFill>
        <a:effectLst/>
      </p:bgPr>
    </p:bg>
    <p:spTree>
      <p:nvGrpSpPr>
        <p:cNvPr id="1" name=""/>
        <p:cNvGrpSpPr/>
        <p:nvPr/>
      </p:nvGrpSpPr>
      <p:grpSpPr>
        <a:xfrm>
          <a:off x="0" y="0"/>
          <a:ext cx="0" cy="0"/>
          <a:chOff x="0" y="0"/>
          <a:chExt cx="0" cy="0"/>
        </a:xfrm>
      </p:grpSpPr>
      <p:sp>
        <p:nvSpPr>
          <p:cNvPr id="2" name="Shape 0"/>
          <p:cNvSpPr/>
          <p:nvPr/>
        </p:nvSpPr>
        <p:spPr>
          <a:xfrm>
            <a:off x="8961120" y="-1280160"/>
            <a:ext cx="4572000" cy="4572000"/>
          </a:xfrm>
          <a:prstGeom prst="ellipse">
            <a:avLst/>
          </a:prstGeom>
          <a:solidFill>
            <a:srgbClr val="0F7A8C">
              <a:alpha val="25000"/>
            </a:srgbClr>
          </a:solidFill>
          <a:ln/>
        </p:spPr>
      </p:sp>
      <p:sp>
        <p:nvSpPr>
          <p:cNvPr id="3" name="Text 1"/>
          <p:cNvSpPr/>
          <p:nvPr/>
        </p:nvSpPr>
        <p:spPr>
          <a:xfrm>
            <a:off x="822960" y="1005840"/>
            <a:ext cx="7315200" cy="320040"/>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PROJECT CODE</a:t>
            </a:r>
            <a:endParaRPr lang="en-US" sz="1600" dirty="0"/>
          </a:p>
        </p:txBody>
      </p:sp>
      <p:sp>
        <p:nvSpPr>
          <p:cNvPr id="4" name="Text 2"/>
          <p:cNvSpPr/>
          <p:nvPr/>
        </p:nvSpPr>
        <p:spPr>
          <a:xfrm>
            <a:off x="2103120" y="2926081"/>
            <a:ext cx="792480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GitHub Repository</a:t>
            </a:r>
            <a:endParaRPr lang="en-US" sz="3000" dirty="0"/>
          </a:p>
        </p:txBody>
      </p:sp>
      <p:sp>
        <p:nvSpPr>
          <p:cNvPr id="5" name="Shape 3"/>
          <p:cNvSpPr/>
          <p:nvPr/>
        </p:nvSpPr>
        <p:spPr>
          <a:xfrm>
            <a:off x="2164080" y="3657601"/>
            <a:ext cx="7863840" cy="868680"/>
          </a:xfrm>
          <a:prstGeom prst="roundRect">
            <a:avLst>
              <a:gd name="adj" fmla="val 10526"/>
            </a:avLst>
          </a:prstGeom>
          <a:solidFill>
            <a:srgbClr val="0F7A8C">
              <a:alpha val="80000"/>
            </a:srgbClr>
          </a:solidFill>
          <a:ln w="12700">
            <a:solidFill>
              <a:srgbClr val="02C39A"/>
            </a:solidFill>
            <a:prstDash val="solid"/>
          </a:ln>
        </p:spPr>
      </p:sp>
      <p:sp>
        <p:nvSpPr>
          <p:cNvPr id="6" name="Text 4"/>
          <p:cNvSpPr/>
          <p:nvPr/>
        </p:nvSpPr>
        <p:spPr>
          <a:xfrm>
            <a:off x="3286760" y="3662681"/>
            <a:ext cx="548640" cy="86868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3865880" y="3657601"/>
            <a:ext cx="6131560" cy="868680"/>
          </a:xfrm>
          <a:prstGeom prst="rect">
            <a:avLst/>
          </a:prstGeom>
          <a:noFill/>
          <a:ln/>
        </p:spPr>
        <p:txBody>
          <a:bodyPr wrap="square" rtlCol="0" anchor="ctr"/>
          <a:lstStyle/>
          <a:p>
            <a:r>
              <a:rPr lang="en-US" sz="1400" b="1" dirty="0">
                <a:solidFill>
                  <a:srgbClr val="FFFFFF"/>
                </a:solidFill>
                <a:latin typeface="Consolas" pitchFamily="34" charset="0"/>
                <a:ea typeface="Consolas" pitchFamily="34" charset="-122"/>
                <a:cs typeface="Consolas" pitchFamily="34" charset="-120"/>
              </a:rPr>
              <a:t>https://github.com/garwebgroup/ai-disease-predictor</a:t>
            </a:r>
            <a:endParaRPr lang="en-US" sz="1400" dirty="0"/>
          </a:p>
        </p:txBody>
      </p:sp>
      <p:sp>
        <p:nvSpPr>
          <p:cNvPr id="19" name="Text 17"/>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GitHub Repository Link</a:t>
            </a:r>
            <a:endParaRPr lang="en-US" sz="1000" dirty="0"/>
          </a:p>
        </p:txBody>
      </p:sp>
      <p:sp>
        <p:nvSpPr>
          <p:cNvPr id="20" name="Text 18"/>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CHALLENGES</a:t>
            </a:r>
            <a:endParaRPr lang="en-US" sz="16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Challenges Encountered</a:t>
            </a:r>
            <a:endParaRPr lang="en-US" sz="2800" dirty="0"/>
          </a:p>
        </p:txBody>
      </p:sp>
      <p:sp>
        <p:nvSpPr>
          <p:cNvPr id="4" name="Shape 2"/>
          <p:cNvSpPr/>
          <p:nvPr/>
        </p:nvSpPr>
        <p:spPr>
          <a:xfrm>
            <a:off x="457200" y="1417320"/>
            <a:ext cx="3639312" cy="2331720"/>
          </a:xfrm>
          <a:prstGeom prst="roundRect">
            <a:avLst>
              <a:gd name="adj" fmla="val 3922"/>
            </a:avLst>
          </a:prstGeom>
          <a:solidFill>
            <a:srgbClr val="EAF6F7"/>
          </a:solidFill>
          <a:ln/>
        </p:spPr>
      </p:sp>
      <p:sp>
        <p:nvSpPr>
          <p:cNvPr id="5" name="Shape 3"/>
          <p:cNvSpPr/>
          <p:nvPr/>
        </p:nvSpPr>
        <p:spPr>
          <a:xfrm>
            <a:off x="640080" y="1600200"/>
            <a:ext cx="384048" cy="384048"/>
          </a:xfrm>
          <a:prstGeom prst="ellipse">
            <a:avLst/>
          </a:prstGeom>
          <a:solidFill>
            <a:srgbClr val="E15554"/>
          </a:solidFill>
          <a:ln/>
        </p:spPr>
      </p:sp>
      <p:sp>
        <p:nvSpPr>
          <p:cNvPr id="6" name="Text 4"/>
          <p:cNvSpPr/>
          <p:nvPr/>
        </p:nvSpPr>
        <p:spPr>
          <a:xfrm>
            <a:off x="640080" y="16002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640080" y="2075688"/>
            <a:ext cx="3273552" cy="548640"/>
          </a:xfrm>
          <a:prstGeom prst="rect">
            <a:avLst/>
          </a:prstGeom>
          <a:noFill/>
          <a:ln/>
        </p:spPr>
        <p:txBody>
          <a:bodyPr wrap="square" rtlCol="0" anchor="ctr"/>
          <a:lstStyle/>
          <a:p>
            <a:pPr marL="0" indent="0">
              <a:lnSpc>
                <a:spcPct val="105000"/>
              </a:lnSpc>
              <a:buNone/>
            </a:pPr>
            <a:r>
              <a:rPr lang="en-US" sz="1400" b="1" dirty="0">
                <a:solidFill>
                  <a:srgbClr val="0B3D4C"/>
                </a:solidFill>
                <a:latin typeface="Calibri" pitchFamily="34" charset="0"/>
                <a:ea typeface="Calibri" pitchFamily="34" charset="-122"/>
                <a:cs typeface="Calibri" pitchFamily="34" charset="-120"/>
              </a:rPr>
              <a:t>Proxy labels, not confirmed diagnoses</a:t>
            </a:r>
            <a:endParaRPr lang="en-US" sz="1400" dirty="0"/>
          </a:p>
        </p:txBody>
      </p:sp>
      <p:sp>
        <p:nvSpPr>
          <p:cNvPr id="8" name="Text 6"/>
          <p:cNvSpPr/>
          <p:nvPr/>
        </p:nvSpPr>
        <p:spPr>
          <a:xfrm>
            <a:off x="640080" y="2606040"/>
            <a:ext cx="3273552" cy="1005840"/>
          </a:xfrm>
          <a:prstGeom prst="rect">
            <a:avLst/>
          </a:prstGeom>
          <a:noFill/>
          <a:ln/>
        </p:spPr>
        <p:txBody>
          <a:bodyPr wrap="square" rtlCol="0" anchor="ctr"/>
          <a:lstStyle/>
          <a:p>
            <a:pPr marL="0" indent="0">
              <a:lnSpc>
                <a:spcPct val="115000"/>
              </a:lnSpc>
              <a:buNone/>
            </a:pPr>
            <a:r>
              <a:rPr lang="en-US" sz="1050" dirty="0">
                <a:solidFill>
                  <a:srgbClr val="17313A"/>
                </a:solidFill>
                <a:latin typeface="Calibri" pitchFamily="34" charset="0"/>
                <a:ea typeface="Calibri" pitchFamily="34" charset="-122"/>
                <a:cs typeface="Calibri" pitchFamily="34" charset="-120"/>
              </a:rPr>
              <a:t>Hypertension, heart-failure, stroke targets had to be approximated from existing survey columns, since the dataset only directly labels diabetes.</a:t>
            </a:r>
            <a:endParaRPr lang="en-US" sz="1050" dirty="0"/>
          </a:p>
        </p:txBody>
      </p:sp>
      <p:sp>
        <p:nvSpPr>
          <p:cNvPr id="9" name="Shape 7"/>
          <p:cNvSpPr/>
          <p:nvPr/>
        </p:nvSpPr>
        <p:spPr>
          <a:xfrm>
            <a:off x="4279392" y="1417320"/>
            <a:ext cx="3639312" cy="2331720"/>
          </a:xfrm>
          <a:prstGeom prst="roundRect">
            <a:avLst>
              <a:gd name="adj" fmla="val 3922"/>
            </a:avLst>
          </a:prstGeom>
          <a:solidFill>
            <a:srgbClr val="EAF6F7"/>
          </a:solidFill>
          <a:ln/>
        </p:spPr>
      </p:sp>
      <p:sp>
        <p:nvSpPr>
          <p:cNvPr id="10" name="Shape 8"/>
          <p:cNvSpPr/>
          <p:nvPr/>
        </p:nvSpPr>
        <p:spPr>
          <a:xfrm>
            <a:off x="4462272" y="1600200"/>
            <a:ext cx="384048" cy="384048"/>
          </a:xfrm>
          <a:prstGeom prst="ellipse">
            <a:avLst/>
          </a:prstGeom>
          <a:solidFill>
            <a:srgbClr val="E15554"/>
          </a:solidFill>
          <a:ln/>
        </p:spPr>
      </p:sp>
      <p:sp>
        <p:nvSpPr>
          <p:cNvPr id="11" name="Text 9"/>
          <p:cNvSpPr/>
          <p:nvPr/>
        </p:nvSpPr>
        <p:spPr>
          <a:xfrm>
            <a:off x="4462272" y="16002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4462272" y="2075688"/>
            <a:ext cx="3273552" cy="548640"/>
          </a:xfrm>
          <a:prstGeom prst="rect">
            <a:avLst/>
          </a:prstGeom>
          <a:noFill/>
          <a:ln/>
        </p:spPr>
        <p:txBody>
          <a:bodyPr wrap="square" rtlCol="0" anchor="ctr"/>
          <a:lstStyle/>
          <a:p>
            <a:pPr marL="0" indent="0">
              <a:lnSpc>
                <a:spcPct val="105000"/>
              </a:lnSpc>
              <a:buNone/>
            </a:pPr>
            <a:r>
              <a:rPr lang="en-US" sz="1400" b="1" dirty="0">
                <a:solidFill>
                  <a:srgbClr val="0B3D4C"/>
                </a:solidFill>
                <a:latin typeface="Calibri" pitchFamily="34" charset="0"/>
                <a:ea typeface="Calibri" pitchFamily="34" charset="-122"/>
                <a:cs typeface="Calibri" pitchFamily="34" charset="-120"/>
              </a:rPr>
              <a:t>Self-reported survey data</a:t>
            </a:r>
            <a:endParaRPr lang="en-US" sz="1400" dirty="0"/>
          </a:p>
        </p:txBody>
      </p:sp>
      <p:sp>
        <p:nvSpPr>
          <p:cNvPr id="13" name="Text 11"/>
          <p:cNvSpPr/>
          <p:nvPr/>
        </p:nvSpPr>
        <p:spPr>
          <a:xfrm>
            <a:off x="4462272" y="2606040"/>
            <a:ext cx="3273552" cy="1005840"/>
          </a:xfrm>
          <a:prstGeom prst="rect">
            <a:avLst/>
          </a:prstGeom>
          <a:noFill/>
          <a:ln/>
        </p:spPr>
        <p:txBody>
          <a:bodyPr wrap="square" rtlCol="0" anchor="ctr"/>
          <a:lstStyle/>
          <a:p>
            <a:pPr marL="0" indent="0">
              <a:lnSpc>
                <a:spcPct val="115000"/>
              </a:lnSpc>
              <a:buNone/>
            </a:pPr>
            <a:r>
              <a:rPr lang="en-US" sz="1050" dirty="0">
                <a:solidFill>
                  <a:srgbClr val="17313A"/>
                </a:solidFill>
                <a:latin typeface="Calibri" pitchFamily="34" charset="0"/>
                <a:ea typeface="Calibri" pitchFamily="34" charset="-122"/>
                <a:cs typeface="Calibri" pitchFamily="34" charset="-120"/>
              </a:rPr>
              <a:t>BRFSS responses rely on patient memory and honesty, introducing potential recall and reporting bias into training data.</a:t>
            </a:r>
            <a:endParaRPr lang="en-US" sz="1050" dirty="0"/>
          </a:p>
        </p:txBody>
      </p:sp>
      <p:sp>
        <p:nvSpPr>
          <p:cNvPr id="14" name="Shape 12"/>
          <p:cNvSpPr/>
          <p:nvPr/>
        </p:nvSpPr>
        <p:spPr>
          <a:xfrm>
            <a:off x="8101584" y="1417320"/>
            <a:ext cx="3639312" cy="2331720"/>
          </a:xfrm>
          <a:prstGeom prst="roundRect">
            <a:avLst>
              <a:gd name="adj" fmla="val 3922"/>
            </a:avLst>
          </a:prstGeom>
          <a:solidFill>
            <a:srgbClr val="EAF6F7"/>
          </a:solidFill>
          <a:ln/>
        </p:spPr>
      </p:sp>
      <p:sp>
        <p:nvSpPr>
          <p:cNvPr id="15" name="Shape 13"/>
          <p:cNvSpPr/>
          <p:nvPr/>
        </p:nvSpPr>
        <p:spPr>
          <a:xfrm>
            <a:off x="8284464" y="1600200"/>
            <a:ext cx="384048" cy="384048"/>
          </a:xfrm>
          <a:prstGeom prst="ellipse">
            <a:avLst/>
          </a:prstGeom>
          <a:solidFill>
            <a:srgbClr val="E15554"/>
          </a:solidFill>
          <a:ln/>
        </p:spPr>
      </p:sp>
      <p:sp>
        <p:nvSpPr>
          <p:cNvPr id="16" name="Text 14"/>
          <p:cNvSpPr/>
          <p:nvPr/>
        </p:nvSpPr>
        <p:spPr>
          <a:xfrm>
            <a:off x="8284464" y="16002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8284464" y="2075688"/>
            <a:ext cx="3273552" cy="548640"/>
          </a:xfrm>
          <a:prstGeom prst="rect">
            <a:avLst/>
          </a:prstGeom>
          <a:noFill/>
          <a:ln/>
        </p:spPr>
        <p:txBody>
          <a:bodyPr wrap="square" rtlCol="0" anchor="ctr"/>
          <a:lstStyle/>
          <a:p>
            <a:pPr marL="0" indent="0">
              <a:lnSpc>
                <a:spcPct val="105000"/>
              </a:lnSpc>
              <a:buNone/>
            </a:pPr>
            <a:r>
              <a:rPr lang="en-US" sz="1400" b="1" dirty="0">
                <a:solidFill>
                  <a:srgbClr val="0B3D4C"/>
                </a:solidFill>
                <a:latin typeface="Calibri" pitchFamily="34" charset="0"/>
                <a:ea typeface="Calibri" pitchFamily="34" charset="-122"/>
                <a:cs typeface="Calibri" pitchFamily="34" charset="-120"/>
              </a:rPr>
              <a:t>Class imbalance</a:t>
            </a:r>
            <a:endParaRPr lang="en-US" sz="1400" dirty="0"/>
          </a:p>
        </p:txBody>
      </p:sp>
      <p:sp>
        <p:nvSpPr>
          <p:cNvPr id="18" name="Text 16"/>
          <p:cNvSpPr/>
          <p:nvPr/>
        </p:nvSpPr>
        <p:spPr>
          <a:xfrm>
            <a:off x="8284464" y="2606040"/>
            <a:ext cx="3273552" cy="1005840"/>
          </a:xfrm>
          <a:prstGeom prst="rect">
            <a:avLst/>
          </a:prstGeom>
          <a:noFill/>
          <a:ln/>
        </p:spPr>
        <p:txBody>
          <a:bodyPr wrap="square" rtlCol="0" anchor="ctr"/>
          <a:lstStyle/>
          <a:p>
            <a:pPr marL="0" indent="0">
              <a:lnSpc>
                <a:spcPct val="115000"/>
              </a:lnSpc>
              <a:buNone/>
            </a:pPr>
            <a:r>
              <a:rPr lang="en-US" sz="1050" dirty="0">
                <a:solidFill>
                  <a:srgbClr val="17313A"/>
                </a:solidFill>
                <a:latin typeface="Calibri" pitchFamily="34" charset="0"/>
                <a:ea typeface="Calibri" pitchFamily="34" charset="-122"/>
                <a:cs typeface="Calibri" pitchFamily="34" charset="-120"/>
              </a:rPr>
              <a:t>Positive cases were far fewer than negative ones for most conditions, requiring careful model tuning to avoid missing real risk cases.</a:t>
            </a:r>
            <a:endParaRPr lang="en-US" sz="1050" dirty="0"/>
          </a:p>
        </p:txBody>
      </p:sp>
      <p:sp>
        <p:nvSpPr>
          <p:cNvPr id="24" name="Shape 22"/>
          <p:cNvSpPr/>
          <p:nvPr/>
        </p:nvSpPr>
        <p:spPr>
          <a:xfrm>
            <a:off x="4279392" y="3931920"/>
            <a:ext cx="3639312" cy="2331720"/>
          </a:xfrm>
          <a:prstGeom prst="roundRect">
            <a:avLst>
              <a:gd name="adj" fmla="val 3922"/>
            </a:avLst>
          </a:prstGeom>
          <a:solidFill>
            <a:srgbClr val="D3E6E9"/>
          </a:solidFill>
          <a:ln/>
        </p:spPr>
      </p:sp>
      <p:sp>
        <p:nvSpPr>
          <p:cNvPr id="25" name="Shape 23"/>
          <p:cNvSpPr/>
          <p:nvPr/>
        </p:nvSpPr>
        <p:spPr>
          <a:xfrm>
            <a:off x="4462272" y="4114800"/>
            <a:ext cx="384048" cy="384048"/>
          </a:xfrm>
          <a:prstGeom prst="ellipse">
            <a:avLst/>
          </a:prstGeom>
          <a:solidFill>
            <a:srgbClr val="E15554"/>
          </a:solidFill>
          <a:ln/>
        </p:spPr>
      </p:sp>
      <p:sp>
        <p:nvSpPr>
          <p:cNvPr id="26" name="Text 24"/>
          <p:cNvSpPr/>
          <p:nvPr/>
        </p:nvSpPr>
        <p:spPr>
          <a:xfrm>
            <a:off x="4462272" y="41148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4462272" y="4590288"/>
            <a:ext cx="3273552" cy="548640"/>
          </a:xfrm>
          <a:prstGeom prst="rect">
            <a:avLst/>
          </a:prstGeom>
          <a:noFill/>
          <a:ln/>
        </p:spPr>
        <p:txBody>
          <a:bodyPr wrap="square" rtlCol="0" anchor="ctr"/>
          <a:lstStyle/>
          <a:p>
            <a:pPr marL="0" indent="0">
              <a:lnSpc>
                <a:spcPct val="105000"/>
              </a:lnSpc>
              <a:buNone/>
            </a:pPr>
            <a:r>
              <a:rPr lang="en-US" sz="1400" b="1" dirty="0">
                <a:solidFill>
                  <a:srgbClr val="0B3D4C"/>
                </a:solidFill>
                <a:latin typeface="Calibri" pitchFamily="34" charset="0"/>
                <a:ea typeface="Calibri" pitchFamily="34" charset="-122"/>
                <a:cs typeface="Calibri" pitchFamily="34" charset="-120"/>
              </a:rPr>
              <a:t>Combining static history with live vitals</a:t>
            </a:r>
            <a:endParaRPr lang="en-US" sz="1400" dirty="0"/>
          </a:p>
        </p:txBody>
      </p:sp>
      <p:sp>
        <p:nvSpPr>
          <p:cNvPr id="28" name="Text 26"/>
          <p:cNvSpPr/>
          <p:nvPr/>
        </p:nvSpPr>
        <p:spPr>
          <a:xfrm>
            <a:off x="4462272" y="5120640"/>
            <a:ext cx="3273552" cy="1005840"/>
          </a:xfrm>
          <a:prstGeom prst="rect">
            <a:avLst/>
          </a:prstGeom>
          <a:noFill/>
          <a:ln/>
        </p:spPr>
        <p:txBody>
          <a:bodyPr wrap="square" rtlCol="0" anchor="ctr"/>
          <a:lstStyle/>
          <a:p>
            <a:pPr marL="0" indent="0">
              <a:lnSpc>
                <a:spcPct val="115000"/>
              </a:lnSpc>
              <a:buNone/>
            </a:pPr>
            <a:r>
              <a:rPr lang="en-US" sz="1050" dirty="0">
                <a:solidFill>
                  <a:srgbClr val="17313A"/>
                </a:solidFill>
                <a:latin typeface="Calibri" pitchFamily="34" charset="0"/>
                <a:ea typeface="Calibri" pitchFamily="34" charset="-122"/>
                <a:cs typeface="Calibri" pitchFamily="34" charset="-120"/>
              </a:rPr>
              <a:t>Merging one-time survey answers with continuously changing vital signs required a separate, independent safety-check layer.</a:t>
            </a:r>
            <a:endParaRPr lang="en-US" sz="1050" dirty="0"/>
          </a:p>
        </p:txBody>
      </p:sp>
      <p:sp>
        <p:nvSpPr>
          <p:cNvPr id="34" name="Text 32"/>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Challenges Encountered</a:t>
            </a:r>
            <a:endParaRPr lang="en-US" sz="1000" dirty="0"/>
          </a:p>
        </p:txBody>
      </p:sp>
      <p:sp>
        <p:nvSpPr>
          <p:cNvPr id="35" name="Text 33"/>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RECOMMENDATIONS</a:t>
            </a:r>
            <a:endParaRPr lang="en-US" sz="13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Recommendations for Future Work</a:t>
            </a:r>
            <a:endParaRPr lang="en-US" sz="2800" dirty="0"/>
          </a:p>
        </p:txBody>
      </p:sp>
      <p:sp>
        <p:nvSpPr>
          <p:cNvPr id="4" name="Shape 2"/>
          <p:cNvSpPr/>
          <p:nvPr/>
        </p:nvSpPr>
        <p:spPr>
          <a:xfrm>
            <a:off x="457200" y="1955800"/>
            <a:ext cx="5440680" cy="1325880"/>
          </a:xfrm>
          <a:prstGeom prst="roundRect">
            <a:avLst>
              <a:gd name="adj" fmla="val 4255"/>
            </a:avLst>
          </a:prstGeom>
          <a:solidFill>
            <a:srgbClr val="EAF6F7"/>
          </a:solidFill>
          <a:ln/>
        </p:spPr>
      </p:sp>
      <p:sp>
        <p:nvSpPr>
          <p:cNvPr id="5" name="Shape 3"/>
          <p:cNvSpPr/>
          <p:nvPr/>
        </p:nvSpPr>
        <p:spPr>
          <a:xfrm>
            <a:off x="685800" y="2184400"/>
            <a:ext cx="548640" cy="548640"/>
          </a:xfrm>
          <a:prstGeom prst="ellipse">
            <a:avLst/>
          </a:prstGeom>
          <a:solidFill>
            <a:srgbClr val="02C39A"/>
          </a:solidFill>
          <a:ln/>
        </p:spPr>
      </p:sp>
      <p:sp>
        <p:nvSpPr>
          <p:cNvPr id="6" name="Text 4"/>
          <p:cNvSpPr/>
          <p:nvPr/>
        </p:nvSpPr>
        <p:spPr>
          <a:xfrm>
            <a:off x="685800" y="218440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17320" y="2156968"/>
            <a:ext cx="4251960" cy="457200"/>
          </a:xfrm>
          <a:prstGeom prst="rect">
            <a:avLst/>
          </a:prstGeom>
          <a:noFill/>
          <a:ln/>
        </p:spPr>
        <p:txBody>
          <a:bodyPr wrap="square" rtlCol="0" anchor="ctr"/>
          <a:lstStyle/>
          <a:p>
            <a:pPr marL="0" indent="0">
              <a:lnSpc>
                <a:spcPct val="105000"/>
              </a:lnSpc>
              <a:buNone/>
            </a:pPr>
            <a:r>
              <a:rPr lang="en-US" sz="1350" b="1" dirty="0">
                <a:solidFill>
                  <a:srgbClr val="0B3D4C"/>
                </a:solidFill>
                <a:latin typeface="Calibri" pitchFamily="34" charset="0"/>
                <a:ea typeface="Calibri" pitchFamily="34" charset="-122"/>
                <a:cs typeface="Calibri" pitchFamily="34" charset="-120"/>
              </a:rPr>
              <a:t>Adopt confirmed clinical labels</a:t>
            </a:r>
            <a:endParaRPr lang="en-US" sz="1350" dirty="0"/>
          </a:p>
        </p:txBody>
      </p:sp>
      <p:sp>
        <p:nvSpPr>
          <p:cNvPr id="8" name="Text 6"/>
          <p:cNvSpPr/>
          <p:nvPr/>
        </p:nvSpPr>
        <p:spPr>
          <a:xfrm>
            <a:off x="1417319" y="2519077"/>
            <a:ext cx="4360025" cy="640080"/>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Retrain on verified diagnoses from EHR or lab data instead of survey-based proxy labels to improve validity.</a:t>
            </a:r>
            <a:endParaRPr lang="en-US" sz="1200" dirty="0"/>
          </a:p>
        </p:txBody>
      </p:sp>
      <p:sp>
        <p:nvSpPr>
          <p:cNvPr id="14" name="Shape 12"/>
          <p:cNvSpPr/>
          <p:nvPr/>
        </p:nvSpPr>
        <p:spPr>
          <a:xfrm>
            <a:off x="487681" y="3482848"/>
            <a:ext cx="5440680" cy="1325880"/>
          </a:xfrm>
          <a:prstGeom prst="roundRect">
            <a:avLst>
              <a:gd name="adj" fmla="val 4255"/>
            </a:avLst>
          </a:prstGeom>
          <a:solidFill>
            <a:srgbClr val="EAF6F7"/>
          </a:solidFill>
          <a:ln/>
        </p:spPr>
      </p:sp>
      <p:sp>
        <p:nvSpPr>
          <p:cNvPr id="15" name="Shape 13"/>
          <p:cNvSpPr/>
          <p:nvPr/>
        </p:nvSpPr>
        <p:spPr>
          <a:xfrm>
            <a:off x="685800" y="3689001"/>
            <a:ext cx="548640" cy="548640"/>
          </a:xfrm>
          <a:prstGeom prst="ellipse">
            <a:avLst/>
          </a:prstGeom>
          <a:solidFill>
            <a:srgbClr val="02C39A"/>
          </a:solidFill>
          <a:ln/>
        </p:spPr>
        <p:txBody>
          <a:bodyPr/>
          <a:lstStyle/>
          <a:p>
            <a:endParaRPr lang="en-US" dirty="0"/>
          </a:p>
        </p:txBody>
      </p:sp>
      <p:sp>
        <p:nvSpPr>
          <p:cNvPr id="16" name="Text 14"/>
          <p:cNvSpPr/>
          <p:nvPr/>
        </p:nvSpPr>
        <p:spPr>
          <a:xfrm>
            <a:off x="685800" y="3659075"/>
            <a:ext cx="548640" cy="548640"/>
          </a:xfrm>
          <a:prstGeom prst="rect">
            <a:avLst/>
          </a:prstGeom>
          <a:noFill/>
          <a:ln/>
        </p:spPr>
        <p:txBody>
          <a:bodyPr wrap="square" rtlCol="0" anchor="ctr"/>
          <a:lstStyle/>
          <a:p>
            <a:pPr marL="0" indent="0" algn="ctr">
              <a:buNone/>
            </a:pPr>
            <a:r>
              <a:rPr lang="en-US" b="1" dirty="0">
                <a:solidFill>
                  <a:srgbClr val="FFFFFF"/>
                </a:solidFill>
                <a:latin typeface="Calibri" pitchFamily="34" charset="0"/>
                <a:cs typeface="Calibri" pitchFamily="34" charset="-120"/>
              </a:rPr>
              <a:t>2</a:t>
            </a:r>
            <a:endParaRPr lang="en-US" sz="1800" dirty="0"/>
          </a:p>
        </p:txBody>
      </p:sp>
      <p:sp>
        <p:nvSpPr>
          <p:cNvPr id="17" name="Text 15"/>
          <p:cNvSpPr/>
          <p:nvPr/>
        </p:nvSpPr>
        <p:spPr>
          <a:xfrm>
            <a:off x="1417320" y="3661569"/>
            <a:ext cx="4251960" cy="457200"/>
          </a:xfrm>
          <a:prstGeom prst="rect">
            <a:avLst/>
          </a:prstGeom>
          <a:noFill/>
          <a:ln/>
        </p:spPr>
        <p:txBody>
          <a:bodyPr wrap="square" rtlCol="0" anchor="ctr"/>
          <a:lstStyle/>
          <a:p>
            <a:pPr marL="0" indent="0">
              <a:lnSpc>
                <a:spcPct val="105000"/>
              </a:lnSpc>
              <a:buNone/>
            </a:pPr>
            <a:r>
              <a:rPr lang="en-US" sz="1350" b="1" dirty="0">
                <a:solidFill>
                  <a:srgbClr val="0B3D4C"/>
                </a:solidFill>
                <a:latin typeface="Calibri" pitchFamily="34" charset="0"/>
                <a:ea typeface="Calibri" pitchFamily="34" charset="-122"/>
                <a:cs typeface="Calibri" pitchFamily="34" charset="-120"/>
              </a:rPr>
              <a:t>Integrate live wearable data</a:t>
            </a:r>
            <a:endParaRPr lang="en-US" sz="1350" dirty="0"/>
          </a:p>
        </p:txBody>
      </p:sp>
      <p:sp>
        <p:nvSpPr>
          <p:cNvPr id="18" name="Text 16"/>
          <p:cNvSpPr/>
          <p:nvPr/>
        </p:nvSpPr>
        <p:spPr>
          <a:xfrm>
            <a:off x="1417320" y="4136041"/>
            <a:ext cx="4251960" cy="502920"/>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Connect to real wearable/IoT vitals feeds instead of manual sliders, enabling true continuous monitoring.</a:t>
            </a:r>
            <a:endParaRPr lang="en-US" sz="1200" dirty="0"/>
          </a:p>
        </p:txBody>
      </p:sp>
      <p:sp>
        <p:nvSpPr>
          <p:cNvPr id="24" name="Shape 22"/>
          <p:cNvSpPr/>
          <p:nvPr/>
        </p:nvSpPr>
        <p:spPr>
          <a:xfrm>
            <a:off x="6263640" y="1936681"/>
            <a:ext cx="5440680" cy="1325881"/>
          </a:xfrm>
          <a:prstGeom prst="roundRect">
            <a:avLst>
              <a:gd name="adj" fmla="val 4255"/>
            </a:avLst>
          </a:prstGeom>
          <a:solidFill>
            <a:srgbClr val="EAF6F7"/>
          </a:solidFill>
          <a:ln/>
        </p:spPr>
      </p:sp>
      <p:sp>
        <p:nvSpPr>
          <p:cNvPr id="25" name="Shape 23"/>
          <p:cNvSpPr/>
          <p:nvPr/>
        </p:nvSpPr>
        <p:spPr>
          <a:xfrm>
            <a:off x="6461760" y="2248408"/>
            <a:ext cx="548640" cy="548640"/>
          </a:xfrm>
          <a:prstGeom prst="ellipse">
            <a:avLst/>
          </a:prstGeom>
          <a:solidFill>
            <a:srgbClr val="02C39A"/>
          </a:solidFill>
          <a:ln/>
        </p:spPr>
      </p:sp>
      <p:sp>
        <p:nvSpPr>
          <p:cNvPr id="26" name="Text 24"/>
          <p:cNvSpPr/>
          <p:nvPr/>
        </p:nvSpPr>
        <p:spPr>
          <a:xfrm>
            <a:off x="685800" y="640080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7223760" y="2137849"/>
            <a:ext cx="4251960" cy="457200"/>
          </a:xfrm>
          <a:prstGeom prst="rect">
            <a:avLst/>
          </a:prstGeom>
          <a:noFill/>
          <a:ln/>
        </p:spPr>
        <p:txBody>
          <a:bodyPr wrap="square" rtlCol="0" anchor="ctr"/>
          <a:lstStyle/>
          <a:p>
            <a:pPr marL="0" indent="0">
              <a:lnSpc>
                <a:spcPct val="105000"/>
              </a:lnSpc>
              <a:buNone/>
            </a:pPr>
            <a:r>
              <a:rPr lang="en-US" sz="1350" b="1" dirty="0">
                <a:solidFill>
                  <a:srgbClr val="0B3D4C"/>
                </a:solidFill>
                <a:latin typeface="Calibri" pitchFamily="34" charset="0"/>
                <a:ea typeface="Calibri" pitchFamily="34" charset="-122"/>
                <a:cs typeface="Calibri" pitchFamily="34" charset="-120"/>
              </a:rPr>
              <a:t>Strengthen evaluation</a:t>
            </a:r>
            <a:endParaRPr lang="en-US" sz="1350" dirty="0"/>
          </a:p>
        </p:txBody>
      </p:sp>
      <p:sp>
        <p:nvSpPr>
          <p:cNvPr id="28" name="Text 26"/>
          <p:cNvSpPr/>
          <p:nvPr/>
        </p:nvSpPr>
        <p:spPr>
          <a:xfrm>
            <a:off x="7193280" y="2519076"/>
            <a:ext cx="4251960" cy="640081"/>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Add ROC-AUC, k-fold cross-validation, confusion matrices and calibration checks per disease.</a:t>
            </a:r>
            <a:endParaRPr lang="en-US" sz="1200" dirty="0"/>
          </a:p>
        </p:txBody>
      </p:sp>
      <p:sp>
        <p:nvSpPr>
          <p:cNvPr id="29" name="Shape 27"/>
          <p:cNvSpPr/>
          <p:nvPr/>
        </p:nvSpPr>
        <p:spPr>
          <a:xfrm>
            <a:off x="6263639" y="3482849"/>
            <a:ext cx="5440680" cy="1325880"/>
          </a:xfrm>
          <a:prstGeom prst="roundRect">
            <a:avLst>
              <a:gd name="adj" fmla="val 4255"/>
            </a:avLst>
          </a:prstGeom>
          <a:solidFill>
            <a:srgbClr val="EAF6F7"/>
          </a:solidFill>
          <a:ln/>
        </p:spPr>
      </p:sp>
      <p:sp>
        <p:nvSpPr>
          <p:cNvPr id="30" name="Shape 28"/>
          <p:cNvSpPr/>
          <p:nvPr/>
        </p:nvSpPr>
        <p:spPr>
          <a:xfrm>
            <a:off x="6492239" y="3711448"/>
            <a:ext cx="548640" cy="548640"/>
          </a:xfrm>
          <a:prstGeom prst="ellipse">
            <a:avLst/>
          </a:prstGeom>
          <a:solidFill>
            <a:srgbClr val="02C39A"/>
          </a:solidFill>
          <a:ln/>
        </p:spPr>
      </p:sp>
      <p:sp>
        <p:nvSpPr>
          <p:cNvPr id="31" name="Text 29"/>
          <p:cNvSpPr/>
          <p:nvPr/>
        </p:nvSpPr>
        <p:spPr>
          <a:xfrm>
            <a:off x="6492239" y="3711448"/>
            <a:ext cx="548640" cy="548640"/>
          </a:xfrm>
          <a:prstGeom prst="rect">
            <a:avLst/>
          </a:prstGeom>
          <a:noFill/>
          <a:ln/>
        </p:spPr>
        <p:txBody>
          <a:bodyPr wrap="square" rtlCol="0" anchor="ctr"/>
          <a:lstStyle/>
          <a:p>
            <a:pPr marL="0" indent="0" algn="ctr">
              <a:buNone/>
            </a:pPr>
            <a:r>
              <a:rPr lang="en-US" b="1" dirty="0">
                <a:solidFill>
                  <a:srgbClr val="FFFFFF"/>
                </a:solidFill>
                <a:latin typeface="Calibri" pitchFamily="34" charset="0"/>
                <a:cs typeface="Calibri" pitchFamily="34" charset="-120"/>
              </a:rPr>
              <a:t>4</a:t>
            </a:r>
            <a:endParaRPr lang="en-US" sz="1800" dirty="0"/>
          </a:p>
        </p:txBody>
      </p:sp>
      <p:sp>
        <p:nvSpPr>
          <p:cNvPr id="32" name="Text 30"/>
          <p:cNvSpPr/>
          <p:nvPr/>
        </p:nvSpPr>
        <p:spPr>
          <a:xfrm>
            <a:off x="7223759" y="3684016"/>
            <a:ext cx="4251960" cy="457200"/>
          </a:xfrm>
          <a:prstGeom prst="rect">
            <a:avLst/>
          </a:prstGeom>
          <a:noFill/>
          <a:ln/>
        </p:spPr>
        <p:txBody>
          <a:bodyPr wrap="square" rtlCol="0" anchor="ctr"/>
          <a:lstStyle/>
          <a:p>
            <a:pPr marL="0" indent="0">
              <a:lnSpc>
                <a:spcPct val="105000"/>
              </a:lnSpc>
              <a:buNone/>
            </a:pPr>
            <a:r>
              <a:rPr lang="en-US" sz="1350" b="1" dirty="0">
                <a:solidFill>
                  <a:srgbClr val="0B3D4C"/>
                </a:solidFill>
                <a:latin typeface="Calibri" pitchFamily="34" charset="0"/>
                <a:ea typeface="Calibri" pitchFamily="34" charset="-122"/>
                <a:cs typeface="Calibri" pitchFamily="34" charset="-120"/>
              </a:rPr>
              <a:t>Prepare for broader deployment</a:t>
            </a:r>
            <a:endParaRPr lang="en-US" sz="1350" dirty="0"/>
          </a:p>
        </p:txBody>
      </p:sp>
      <p:sp>
        <p:nvSpPr>
          <p:cNvPr id="33" name="Text 31"/>
          <p:cNvSpPr/>
          <p:nvPr/>
        </p:nvSpPr>
        <p:spPr>
          <a:xfrm>
            <a:off x="7223760" y="4129850"/>
            <a:ext cx="4251960" cy="548640"/>
          </a:xfrm>
          <a:prstGeom prst="rect">
            <a:avLst/>
          </a:prstGeom>
          <a:noFill/>
          <a:ln/>
        </p:spPr>
        <p:txBody>
          <a:bodyPr wrap="square" rtlCol="0" anchor="ctr"/>
          <a:lstStyle/>
          <a:p>
            <a:pPr marL="0" indent="0">
              <a:lnSpc>
                <a:spcPct val="120000"/>
              </a:lnSpc>
              <a:buNone/>
            </a:pPr>
            <a:r>
              <a:rPr lang="en-US" sz="1200" dirty="0">
                <a:solidFill>
                  <a:srgbClr val="17313A"/>
                </a:solidFill>
                <a:latin typeface="Calibri" pitchFamily="34" charset="0"/>
                <a:ea typeface="Calibri" pitchFamily="34" charset="-122"/>
                <a:cs typeface="Calibri" pitchFamily="34" charset="-120"/>
              </a:rPr>
              <a:t>Add multi-language support, offline-friendly design, and address data privacy / informed consent for real-world use.</a:t>
            </a:r>
            <a:endParaRPr lang="en-US" sz="1200" dirty="0"/>
          </a:p>
        </p:txBody>
      </p:sp>
      <p:sp>
        <p:nvSpPr>
          <p:cNvPr id="34" name="Text 32"/>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Recommendations</a:t>
            </a:r>
            <a:endParaRPr lang="en-US" sz="1000" dirty="0"/>
          </a:p>
        </p:txBody>
      </p:sp>
      <p:sp>
        <p:nvSpPr>
          <p:cNvPr id="35" name="Text 33"/>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14</a:t>
            </a:r>
            <a:endParaRPr lang="en-US" sz="1000" dirty="0"/>
          </a:p>
        </p:txBody>
      </p:sp>
      <p:sp>
        <p:nvSpPr>
          <p:cNvPr id="37" name="Text 14">
            <a:extLst>
              <a:ext uri="{FF2B5EF4-FFF2-40B4-BE49-F238E27FC236}">
                <a16:creationId xmlns:a16="http://schemas.microsoft.com/office/drawing/2014/main" id="{B4D7F785-F4D2-93CB-FBBF-149637185890}"/>
              </a:ext>
            </a:extLst>
          </p:cNvPr>
          <p:cNvSpPr/>
          <p:nvPr/>
        </p:nvSpPr>
        <p:spPr>
          <a:xfrm>
            <a:off x="6479771" y="2246188"/>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cs typeface="Calibri" pitchFamily="34" charset="-120"/>
              </a:rPr>
              <a:t>3</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B3D4C"/>
        </a:solidFill>
        <a:effectLst/>
      </p:bgPr>
    </p:bg>
    <p:spTree>
      <p:nvGrpSpPr>
        <p:cNvPr id="1" name=""/>
        <p:cNvGrpSpPr/>
        <p:nvPr/>
      </p:nvGrpSpPr>
      <p:grpSpPr>
        <a:xfrm>
          <a:off x="0" y="0"/>
          <a:ext cx="0" cy="0"/>
          <a:chOff x="0" y="0"/>
          <a:chExt cx="0" cy="0"/>
        </a:xfrm>
      </p:grpSpPr>
      <p:sp>
        <p:nvSpPr>
          <p:cNvPr id="6" name="Shape 4"/>
          <p:cNvSpPr/>
          <p:nvPr/>
        </p:nvSpPr>
        <p:spPr>
          <a:xfrm>
            <a:off x="822960" y="2926080"/>
            <a:ext cx="7863840" cy="1005840"/>
          </a:xfrm>
          <a:prstGeom prst="roundRect">
            <a:avLst>
              <a:gd name="adj" fmla="val 9091"/>
            </a:avLst>
          </a:prstGeom>
          <a:solidFill>
            <a:srgbClr val="0F7A8C">
              <a:alpha val="75000"/>
            </a:srgbClr>
          </a:solidFill>
          <a:ln w="12700">
            <a:solidFill>
              <a:srgbClr val="02C39A"/>
            </a:solidFill>
            <a:prstDash val="solid"/>
          </a:ln>
        </p:spPr>
      </p:sp>
      <p:sp>
        <p:nvSpPr>
          <p:cNvPr id="3" name="Text 1"/>
          <p:cNvSpPr/>
          <p:nvPr/>
        </p:nvSpPr>
        <p:spPr>
          <a:xfrm>
            <a:off x="822960" y="822960"/>
            <a:ext cx="7315200" cy="320040"/>
          </a:xfrm>
          <a:prstGeom prst="rect">
            <a:avLst/>
          </a:prstGeom>
          <a:noFill/>
          <a:ln/>
        </p:spPr>
        <p:txBody>
          <a:bodyPr wrap="square" rtlCol="0" anchor="ctr"/>
          <a:lstStyle/>
          <a:p>
            <a:pPr marL="0" indent="0" algn="ctr">
              <a:buNone/>
            </a:pPr>
            <a:r>
              <a:rPr lang="en-US" sz="1600" b="1" kern="0" spc="200" dirty="0">
                <a:solidFill>
                  <a:srgbClr val="02C39A"/>
                </a:solidFill>
                <a:latin typeface="Calibri" pitchFamily="34" charset="0"/>
                <a:ea typeface="Calibri" pitchFamily="34" charset="-122"/>
                <a:cs typeface="Calibri" pitchFamily="34" charset="-120"/>
              </a:rPr>
              <a:t>CONCLUSION</a:t>
            </a:r>
            <a:endParaRPr lang="en-US" sz="1600" dirty="0"/>
          </a:p>
        </p:txBody>
      </p:sp>
      <p:sp>
        <p:nvSpPr>
          <p:cNvPr id="4" name="Text 2"/>
          <p:cNvSpPr/>
          <p:nvPr/>
        </p:nvSpPr>
        <p:spPr>
          <a:xfrm>
            <a:off x="822960" y="1795780"/>
            <a:ext cx="7863840" cy="1005840"/>
          </a:xfrm>
          <a:prstGeom prst="rect">
            <a:avLst/>
          </a:prstGeom>
          <a:noFill/>
          <a:ln/>
        </p:spPr>
        <p:txBody>
          <a:bodyPr wrap="square" rtlCol="0" anchor="ctr"/>
          <a:lstStyle/>
          <a:p>
            <a:pPr marL="0" indent="0">
              <a:lnSpc>
                <a:spcPct val="108000"/>
              </a:lnSpc>
              <a:buNone/>
            </a:pPr>
            <a:r>
              <a:rPr lang="en-US" sz="3000" b="1" dirty="0">
                <a:solidFill>
                  <a:srgbClr val="FFFFFF"/>
                </a:solidFill>
                <a:latin typeface="Calibri" pitchFamily="34" charset="0"/>
                <a:ea typeface="Calibri" pitchFamily="34" charset="-122"/>
                <a:cs typeface="Calibri" pitchFamily="34" charset="-120"/>
              </a:rPr>
              <a:t>One Pipeline, Five Diseases, Earlier Intervention</a:t>
            </a:r>
            <a:endParaRPr lang="en-US" sz="3000" dirty="0"/>
          </a:p>
        </p:txBody>
      </p:sp>
      <p:sp>
        <p:nvSpPr>
          <p:cNvPr id="5" name="Text 3"/>
          <p:cNvSpPr/>
          <p:nvPr/>
        </p:nvSpPr>
        <p:spPr>
          <a:xfrm>
            <a:off x="822960" y="2743200"/>
            <a:ext cx="7863840" cy="1280159"/>
          </a:xfrm>
          <a:prstGeom prst="rect">
            <a:avLst/>
          </a:prstGeom>
          <a:noFill/>
          <a:ln/>
        </p:spPr>
        <p:txBody>
          <a:bodyPr wrap="square" rtlCol="0" anchor="ctr"/>
          <a:lstStyle/>
          <a:p>
            <a:pPr marL="0" indent="0">
              <a:lnSpc>
                <a:spcPct val="130000"/>
              </a:lnSpc>
              <a:buNone/>
            </a:pPr>
            <a:r>
              <a:rPr lang="en-US" sz="1600" dirty="0">
                <a:solidFill>
                  <a:srgbClr val="D3E6E9"/>
                </a:solidFill>
                <a:latin typeface="Calibri" pitchFamily="34" charset="0"/>
                <a:ea typeface="Calibri" pitchFamily="34" charset="-122"/>
                <a:cs typeface="Calibri" pitchFamily="34" charset="-120"/>
              </a:rPr>
              <a:t>By combining a patient's complete medical history with real-time physiological data in a single XGBoost-driven pipeline, this system turns scattered clinical signals into clear, actionable, early risk estimates, packaged in an interface any healthcare team can use.</a:t>
            </a:r>
            <a:endParaRPr lang="en-US" sz="1600" dirty="0"/>
          </a:p>
        </p:txBody>
      </p:sp>
      <p:sp>
        <p:nvSpPr>
          <p:cNvPr id="8" name="Shape 6"/>
          <p:cNvSpPr/>
          <p:nvPr/>
        </p:nvSpPr>
        <p:spPr>
          <a:xfrm>
            <a:off x="904240" y="5694680"/>
            <a:ext cx="4937760" cy="0"/>
          </a:xfrm>
          <a:prstGeom prst="line">
            <a:avLst/>
          </a:prstGeom>
          <a:noFill/>
          <a:ln w="12700">
            <a:solidFill>
              <a:srgbClr val="0F7A8C"/>
            </a:solidFill>
            <a:prstDash val="solid"/>
          </a:ln>
        </p:spPr>
      </p:sp>
      <p:sp>
        <p:nvSpPr>
          <p:cNvPr id="9" name="Text 7"/>
          <p:cNvSpPr/>
          <p:nvPr/>
        </p:nvSpPr>
        <p:spPr>
          <a:xfrm>
            <a:off x="822960" y="5791708"/>
            <a:ext cx="493776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Thank You and Questions are Welcome</a:t>
            </a:r>
            <a:endParaRPr lang="en-US" sz="1300" dirty="0"/>
          </a:p>
        </p:txBody>
      </p:sp>
      <p:sp>
        <p:nvSpPr>
          <p:cNvPr id="11" name="Text 9"/>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Conclusion</a:t>
            </a:r>
            <a:endParaRPr lang="en-US" sz="1000" dirty="0"/>
          </a:p>
        </p:txBody>
      </p:sp>
      <p:sp>
        <p:nvSpPr>
          <p:cNvPr id="12" name="Text 10"/>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292608"/>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REFERENCES</a:t>
            </a:r>
            <a:endParaRPr lang="en-US" sz="1300" dirty="0"/>
          </a:p>
        </p:txBody>
      </p:sp>
      <p:sp>
        <p:nvSpPr>
          <p:cNvPr id="3" name="Text 1"/>
          <p:cNvSpPr/>
          <p:nvPr/>
        </p:nvSpPr>
        <p:spPr>
          <a:xfrm>
            <a:off x="457200" y="566928"/>
            <a:ext cx="11247120" cy="566928"/>
          </a:xfrm>
          <a:prstGeom prst="rect">
            <a:avLst/>
          </a:prstGeom>
          <a:noFill/>
          <a:ln/>
        </p:spPr>
        <p:txBody>
          <a:bodyPr wrap="square" rtlCol="0" anchor="ctr"/>
          <a:lstStyle/>
          <a:p>
            <a:pPr marL="0" indent="0">
              <a:buNone/>
            </a:pPr>
            <a:r>
              <a:rPr lang="en-US" sz="2800" b="1" dirty="0">
                <a:solidFill>
                  <a:srgbClr val="0B3D4C"/>
                </a:solidFill>
                <a:latin typeface="Calibri" pitchFamily="34" charset="0"/>
                <a:ea typeface="Calibri" pitchFamily="34" charset="-122"/>
                <a:cs typeface="Calibri" pitchFamily="34" charset="-120"/>
              </a:rPr>
              <a:t>Sources &amp; Further Reading</a:t>
            </a:r>
            <a:endParaRPr lang="en-US" sz="2800" dirty="0"/>
          </a:p>
        </p:txBody>
      </p:sp>
      <p:sp>
        <p:nvSpPr>
          <p:cNvPr id="4" name="Shape 2"/>
          <p:cNvSpPr/>
          <p:nvPr/>
        </p:nvSpPr>
        <p:spPr>
          <a:xfrm>
            <a:off x="457200" y="1463040"/>
            <a:ext cx="11274552" cy="749808"/>
          </a:xfrm>
          <a:prstGeom prst="roundRect">
            <a:avLst>
              <a:gd name="adj" fmla="val 7317"/>
            </a:avLst>
          </a:prstGeom>
          <a:solidFill>
            <a:srgbClr val="EAF6F7"/>
          </a:solidFill>
          <a:ln/>
        </p:spPr>
      </p:sp>
      <p:sp>
        <p:nvSpPr>
          <p:cNvPr id="5" name="Text 3"/>
          <p:cNvSpPr/>
          <p:nvPr/>
        </p:nvSpPr>
        <p:spPr>
          <a:xfrm>
            <a:off x="640080" y="1463040"/>
            <a:ext cx="457200" cy="749808"/>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463040"/>
            <a:ext cx="10332720" cy="749808"/>
          </a:xfrm>
          <a:prstGeom prst="rect">
            <a:avLst/>
          </a:prstGeom>
          <a:noFill/>
          <a:ln/>
        </p:spPr>
        <p:txBody>
          <a:bodyPr wrap="square" rtlCol="0" anchor="ctr"/>
          <a:lstStyle/>
          <a:p>
            <a:pPr marL="0" indent="0">
              <a:lnSpc>
                <a:spcPct val="115000"/>
              </a:lnSpc>
              <a:buNone/>
            </a:pPr>
            <a:r>
              <a:rPr lang="en-US" sz="1150" dirty="0">
                <a:solidFill>
                  <a:srgbClr val="17313A"/>
                </a:solidFill>
                <a:latin typeface="Calibri" pitchFamily="34" charset="0"/>
                <a:ea typeface="Calibri" pitchFamily="34" charset="-122"/>
                <a:cs typeface="Calibri" pitchFamily="34" charset="-120"/>
              </a:rPr>
              <a:t>Chen, T., &amp; Guestrin, C. (2016). XGBoost: A Scalable Tree Boosting System. Proceedings of the 22nd ACM SIGKDD International Conference on Knowledge Discovery and Data Mining.</a:t>
            </a:r>
            <a:endParaRPr lang="en-US" sz="1150" dirty="0"/>
          </a:p>
        </p:txBody>
      </p:sp>
      <p:sp>
        <p:nvSpPr>
          <p:cNvPr id="7" name="Shape 5"/>
          <p:cNvSpPr/>
          <p:nvPr/>
        </p:nvSpPr>
        <p:spPr>
          <a:xfrm>
            <a:off x="457200" y="2304288"/>
            <a:ext cx="11274552" cy="749808"/>
          </a:xfrm>
          <a:prstGeom prst="roundRect">
            <a:avLst>
              <a:gd name="adj" fmla="val 7317"/>
            </a:avLst>
          </a:prstGeom>
          <a:solidFill>
            <a:srgbClr val="FFFFFF"/>
          </a:solidFill>
          <a:ln/>
        </p:spPr>
      </p:sp>
      <p:sp>
        <p:nvSpPr>
          <p:cNvPr id="8" name="Text 6"/>
          <p:cNvSpPr/>
          <p:nvPr/>
        </p:nvSpPr>
        <p:spPr>
          <a:xfrm>
            <a:off x="640080" y="2304288"/>
            <a:ext cx="457200" cy="749808"/>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88720" y="2304288"/>
            <a:ext cx="10332720" cy="749808"/>
          </a:xfrm>
          <a:prstGeom prst="rect">
            <a:avLst/>
          </a:prstGeom>
          <a:noFill/>
          <a:ln/>
        </p:spPr>
        <p:txBody>
          <a:bodyPr wrap="square" rtlCol="0" anchor="ctr"/>
          <a:lstStyle/>
          <a:p>
            <a:pPr marL="0" indent="0">
              <a:lnSpc>
                <a:spcPct val="115000"/>
              </a:lnSpc>
              <a:buNone/>
            </a:pPr>
            <a:r>
              <a:rPr lang="en-US" sz="1150" dirty="0">
                <a:solidFill>
                  <a:srgbClr val="17313A"/>
                </a:solidFill>
                <a:latin typeface="Calibri" pitchFamily="34" charset="0"/>
                <a:ea typeface="Calibri" pitchFamily="34" charset="-122"/>
                <a:cs typeface="Calibri" pitchFamily="34" charset="-120"/>
              </a:rPr>
              <a:t>Teboul, A. Diabetes Health Indicators Dataset. Kaggle. Derived from the CDC Behavioral Risk Factor Surveillance System (BRFSS), 2015.</a:t>
            </a:r>
            <a:endParaRPr lang="en-US" sz="1150" dirty="0"/>
          </a:p>
        </p:txBody>
      </p:sp>
      <p:sp>
        <p:nvSpPr>
          <p:cNvPr id="10" name="Shape 8"/>
          <p:cNvSpPr/>
          <p:nvPr/>
        </p:nvSpPr>
        <p:spPr>
          <a:xfrm>
            <a:off x="457200" y="3145536"/>
            <a:ext cx="11274552" cy="749808"/>
          </a:xfrm>
          <a:prstGeom prst="roundRect">
            <a:avLst>
              <a:gd name="adj" fmla="val 7317"/>
            </a:avLst>
          </a:prstGeom>
          <a:solidFill>
            <a:srgbClr val="EAF6F7"/>
          </a:solidFill>
          <a:ln/>
        </p:spPr>
      </p:sp>
      <p:sp>
        <p:nvSpPr>
          <p:cNvPr id="11" name="Text 9"/>
          <p:cNvSpPr/>
          <p:nvPr/>
        </p:nvSpPr>
        <p:spPr>
          <a:xfrm>
            <a:off x="640080" y="3145536"/>
            <a:ext cx="457200" cy="749808"/>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88720" y="3145536"/>
            <a:ext cx="10332720" cy="749808"/>
          </a:xfrm>
          <a:prstGeom prst="rect">
            <a:avLst/>
          </a:prstGeom>
          <a:noFill/>
          <a:ln/>
        </p:spPr>
        <p:txBody>
          <a:bodyPr wrap="square" rtlCol="0" anchor="ctr"/>
          <a:lstStyle/>
          <a:p>
            <a:pPr marL="0" indent="0">
              <a:lnSpc>
                <a:spcPct val="115000"/>
              </a:lnSpc>
              <a:buNone/>
            </a:pPr>
            <a:r>
              <a:rPr lang="en-US" sz="1150" dirty="0">
                <a:solidFill>
                  <a:srgbClr val="17313A"/>
                </a:solidFill>
                <a:latin typeface="Calibri" pitchFamily="34" charset="0"/>
                <a:ea typeface="Calibri" pitchFamily="34" charset="-122"/>
                <a:cs typeface="Calibri" pitchFamily="34" charset="-120"/>
              </a:rPr>
              <a:t>Centers for Disease Control and Prevention. Behavioral Risk Factor Surveillance System (BRFSS) Overview.</a:t>
            </a:r>
            <a:endParaRPr lang="en-US" sz="1150" dirty="0"/>
          </a:p>
        </p:txBody>
      </p:sp>
      <p:sp>
        <p:nvSpPr>
          <p:cNvPr id="13" name="Shape 11"/>
          <p:cNvSpPr/>
          <p:nvPr/>
        </p:nvSpPr>
        <p:spPr>
          <a:xfrm>
            <a:off x="457200" y="3986784"/>
            <a:ext cx="11274552" cy="749808"/>
          </a:xfrm>
          <a:prstGeom prst="roundRect">
            <a:avLst>
              <a:gd name="adj" fmla="val 7317"/>
            </a:avLst>
          </a:prstGeom>
          <a:solidFill>
            <a:srgbClr val="FFFFFF"/>
          </a:solidFill>
          <a:ln/>
        </p:spPr>
      </p:sp>
      <p:sp>
        <p:nvSpPr>
          <p:cNvPr id="14" name="Text 12"/>
          <p:cNvSpPr/>
          <p:nvPr/>
        </p:nvSpPr>
        <p:spPr>
          <a:xfrm>
            <a:off x="640080" y="3986784"/>
            <a:ext cx="457200" cy="749808"/>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88720" y="3986784"/>
            <a:ext cx="10332720" cy="749808"/>
          </a:xfrm>
          <a:prstGeom prst="rect">
            <a:avLst/>
          </a:prstGeom>
          <a:noFill/>
          <a:ln/>
        </p:spPr>
        <p:txBody>
          <a:bodyPr wrap="square" rtlCol="0" anchor="ctr"/>
          <a:lstStyle/>
          <a:p>
            <a:pPr marL="0" indent="0">
              <a:lnSpc>
                <a:spcPct val="115000"/>
              </a:lnSpc>
              <a:buNone/>
            </a:pPr>
            <a:r>
              <a:rPr lang="en-US" sz="1150" dirty="0">
                <a:solidFill>
                  <a:srgbClr val="17313A"/>
                </a:solidFill>
                <a:latin typeface="Calibri" pitchFamily="34" charset="0"/>
                <a:ea typeface="Calibri" pitchFamily="34" charset="-122"/>
                <a:cs typeface="Calibri" pitchFamily="34" charset="-120"/>
              </a:rPr>
              <a:t>Pedregosa, F., et al. (2011). Scikit-learn: Machine Learning in Python. Journal of Machine Learning Research.</a:t>
            </a:r>
            <a:endParaRPr lang="en-US" sz="1150" dirty="0"/>
          </a:p>
        </p:txBody>
      </p:sp>
      <p:sp>
        <p:nvSpPr>
          <p:cNvPr id="16" name="Shape 14"/>
          <p:cNvSpPr/>
          <p:nvPr/>
        </p:nvSpPr>
        <p:spPr>
          <a:xfrm>
            <a:off x="457200" y="4828032"/>
            <a:ext cx="11274552" cy="749808"/>
          </a:xfrm>
          <a:prstGeom prst="roundRect">
            <a:avLst>
              <a:gd name="adj" fmla="val 7317"/>
            </a:avLst>
          </a:prstGeom>
          <a:solidFill>
            <a:srgbClr val="EAF6F7"/>
          </a:solidFill>
          <a:ln/>
        </p:spPr>
      </p:sp>
      <p:sp>
        <p:nvSpPr>
          <p:cNvPr id="17" name="Text 15"/>
          <p:cNvSpPr/>
          <p:nvPr/>
        </p:nvSpPr>
        <p:spPr>
          <a:xfrm>
            <a:off x="640080" y="4828032"/>
            <a:ext cx="457200" cy="749808"/>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88720" y="4828032"/>
            <a:ext cx="10332720" cy="749808"/>
          </a:xfrm>
          <a:prstGeom prst="rect">
            <a:avLst/>
          </a:prstGeom>
          <a:noFill/>
          <a:ln/>
        </p:spPr>
        <p:txBody>
          <a:bodyPr wrap="square" rtlCol="0" anchor="ctr"/>
          <a:lstStyle/>
          <a:p>
            <a:pPr marL="0" indent="0">
              <a:lnSpc>
                <a:spcPct val="115000"/>
              </a:lnSpc>
              <a:buNone/>
            </a:pPr>
            <a:r>
              <a:rPr lang="en-US" sz="1150" dirty="0" err="1">
                <a:solidFill>
                  <a:srgbClr val="17313A"/>
                </a:solidFill>
                <a:latin typeface="Calibri" pitchFamily="34" charset="0"/>
                <a:ea typeface="Calibri" pitchFamily="34" charset="-122"/>
                <a:cs typeface="Calibri" pitchFamily="34" charset="-120"/>
              </a:rPr>
              <a:t>Gradio</a:t>
            </a:r>
            <a:r>
              <a:rPr lang="en-US" sz="1150" dirty="0">
                <a:solidFill>
                  <a:srgbClr val="17313A"/>
                </a:solidFill>
                <a:latin typeface="Calibri" pitchFamily="34" charset="0"/>
                <a:ea typeface="Calibri" pitchFamily="34" charset="-122"/>
                <a:cs typeface="Calibri" pitchFamily="34" charset="-120"/>
              </a:rPr>
              <a:t> Documentation. Building and sharing interactive machine learning web apps in Python.</a:t>
            </a:r>
            <a:endParaRPr lang="en-US" sz="1150" dirty="0"/>
          </a:p>
        </p:txBody>
      </p:sp>
      <p:sp>
        <p:nvSpPr>
          <p:cNvPr id="19" name="Text 17"/>
          <p:cNvSpPr/>
          <p:nvPr/>
        </p:nvSpPr>
        <p:spPr>
          <a:xfrm>
            <a:off x="457200" y="6473952"/>
            <a:ext cx="6400800" cy="292608"/>
          </a:xfrm>
          <a:prstGeom prst="rect">
            <a:avLst/>
          </a:prstGeom>
          <a:noFill/>
          <a:ln/>
        </p:spPr>
        <p:txBody>
          <a:bodyPr wrap="square" rtlCol="0" anchor="ctr"/>
          <a:lstStyle/>
          <a:p>
            <a:pPr marL="0" indent="0" algn="l">
              <a:buNone/>
            </a:pPr>
            <a:r>
              <a:rPr lang="en-US" sz="1000" dirty="0">
                <a:solidFill>
                  <a:srgbClr val="51707A"/>
                </a:solidFill>
                <a:latin typeface="Calibri" pitchFamily="34" charset="0"/>
                <a:ea typeface="Calibri" pitchFamily="34" charset="-122"/>
                <a:cs typeface="Calibri" pitchFamily="34" charset="-120"/>
              </a:rPr>
              <a:t>References</a:t>
            </a:r>
            <a:endParaRPr lang="en-US" sz="1000" dirty="0"/>
          </a:p>
        </p:txBody>
      </p:sp>
      <p:sp>
        <p:nvSpPr>
          <p:cNvPr id="20" name="Text 18"/>
          <p:cNvSpPr/>
          <p:nvPr/>
        </p:nvSpPr>
        <p:spPr>
          <a:xfrm>
            <a:off x="11457432" y="6473952"/>
            <a:ext cx="365760" cy="292608"/>
          </a:xfrm>
          <a:prstGeom prst="rect">
            <a:avLst/>
          </a:prstGeom>
          <a:noFill/>
          <a:ln/>
        </p:spPr>
        <p:txBody>
          <a:bodyPr wrap="square" rtlCol="0" anchor="ctr"/>
          <a:lstStyle/>
          <a:p>
            <a:pPr marL="0" indent="0" algn="r">
              <a:buNone/>
            </a:pPr>
            <a:r>
              <a:rPr lang="en-US" sz="1000" dirty="0">
                <a:solidFill>
                  <a:srgbClr val="5170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1936</TotalTime>
  <Words>2138</Words>
  <Application>Microsoft Office PowerPoint</Application>
  <PresentationFormat>Widescreen</PresentationFormat>
  <Paragraphs>289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DBANK</cp:lastModifiedBy>
  <cp:revision>157</cp:revision>
  <dcterms:created xsi:type="dcterms:W3CDTF">2026-07-21T11:06:21Z</dcterms:created>
  <dcterms:modified xsi:type="dcterms:W3CDTF">2026-07-22T19:49:14Z</dcterms:modified>
</cp:coreProperties>
</file>